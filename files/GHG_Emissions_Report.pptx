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7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33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34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35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40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3788c91-ee4f-04e0-252a-d3f5ab7e37b1}">
          <p14:sldIdLst>
            <p14:sldId id="256"/>
            <p14:sldId id="257"/>
            <p14:sldId id="258"/>
            <p14:sldId id="259"/>
          </p14:sldIdLst>
        </p14:section>
        <p14:section name="Countries and continents" id="{c3d4beb3-8676-0d5d-219f-db8b08d688dc}">
          <p14:sldIdLst>
            <p14:sldId id="260"/>
            <p14:sldId id="261"/>
            <p14:sldId id="262"/>
          </p14:sldIdLst>
        </p14:section>
        <p14:section name="Population" id="{95e09a3e-8b96-9752-d7b5-ef6535b619eb}">
          <p14:sldIdLst>
            <p14:sldId id="263"/>
            <p14:sldId id="264"/>
          </p14:sldIdLst>
        </p14:section>
        <p14:section name="Government revenue" id="{d5d3ca8b-3f63-369d-d710-1b9a18a6aa45}">
          <p14:sldIdLst>
            <p14:sldId id="265"/>
            <p14:sldId id="266"/>
            <p14:sldId id="267"/>
          </p14:sldIdLst>
        </p14:section>
        <p14:section name="Size and density" id="{0c7699da-e191-c8b1-1c25-19c626d80665}">
          <p14:sldIdLst>
            <p14:sldId id="268"/>
            <p14:sldId id="269"/>
          </p14:sldIdLst>
        </p14:section>
        <p14:section name="21st-century trends" id="{2b022862-9ae9-7b1a-69b8-c926ce4deec7}">
          <p14:sldIdLst>
            <p14:sldId id="270"/>
            <p14:sldId id="271"/>
            <p14:sldId id="272"/>
            <p14:sldId id="273"/>
            <p14:sldId id="274"/>
          </p14:sldIdLst>
        </p14:section>
        <p14:section name="Outlook to 2028" id="{871a92b2-a2b7-9b45-7a1e-ba53812fb4c4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Extreme weather" id="{783d134a-9bfb-6732-0995-9f2514886c9b}">
          <p14:sldIdLst>
            <p14:sldId id="282"/>
            <p14:sldId id="283"/>
            <p14:sldId id="284"/>
            <p14:sldId id="285"/>
            <p14:sldId id="286"/>
          </p14:sldIdLst>
        </p14:section>
        <p14:section name="Conclusions" id="{e2645c51-cee6-41ec-a128-31402acdeee6}">
          <p14:sldIdLst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Top 15 emitters, Mt CO₂e (2024)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 (Mt CO₂e)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South Africa</c:v>
                  </c:pt>
                  <c:pt idx="1">
                    <c:v>Mexico</c:v>
                  </c:pt>
                  <c:pt idx="2">
                    <c:v>Germany</c:v>
                  </c:pt>
                  <c:pt idx="3">
                    <c:v>Turkey</c:v>
                  </c:pt>
                  <c:pt idx="4">
                    <c:v>South Korea</c:v>
                  </c:pt>
                  <c:pt idx="5">
                    <c:v>Canada</c:v>
                  </c:pt>
                  <c:pt idx="6">
                    <c:v>Brazil</c:v>
                  </c:pt>
                  <c:pt idx="7">
                    <c:v>Saudi Arabia</c:v>
                  </c:pt>
                  <c:pt idx="8">
                    <c:v>Iran</c:v>
                  </c:pt>
                  <c:pt idx="9">
                    <c:v>Japan</c:v>
                  </c:pt>
                  <c:pt idx="10">
                    <c:v>Indonesia</c:v>
                  </c:pt>
                  <c:pt idx="11">
                    <c:v>Russia</c:v>
                  </c:pt>
                  <c:pt idx="12">
                    <c:v>India</c:v>
                  </c:pt>
                  <c:pt idx="13">
                    <c:v>United States</c:v>
                  </c:pt>
                  <c:pt idx="14">
                    <c:v>China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508</c:v>
                </c:pt>
                <c:pt idx="1">
                  <c:v>551</c:v>
                </c:pt>
                <c:pt idx="2">
                  <c:v>608</c:v>
                </c:pt>
                <c:pt idx="3">
                  <c:v>610</c:v>
                </c:pt>
                <c:pt idx="4">
                  <c:v>621</c:v>
                </c:pt>
                <c:pt idx="5">
                  <c:v>632</c:v>
                </c:pt>
                <c:pt idx="6">
                  <c:v>681</c:v>
                </c:pt>
                <c:pt idx="7">
                  <c:v>806</c:v>
                </c:pt>
                <c:pt idx="8">
                  <c:v>955</c:v>
                </c:pt>
                <c:pt idx="9">
                  <c:v>986</c:v>
                </c:pt>
                <c:pt idx="10">
                  <c:v>1142</c:v>
                </c:pt>
                <c:pt idx="11">
                  <c:v>2237</c:v>
                </c:pt>
                <c:pt idx="12">
                  <c:v>3571</c:v>
                </c:pt>
                <c:pt idx="13">
                  <c:v>5594</c:v>
                </c:pt>
                <c:pt idx="14">
                  <c:v>13699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global GHG (%)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</c:v>
                  </c:pt>
                  <c:pt idx="1">
                    <c:v>North America</c:v>
                  </c:pt>
                  <c:pt idx="2">
                    <c:v>Europe</c:v>
                  </c:pt>
                  <c:pt idx="3">
                    <c:v>Africa</c:v>
                  </c:pt>
                  <c:pt idx="4">
                    <c:v>South America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61.2</c:v>
                </c:pt>
                <c:pt idx="1">
                  <c:v>16</c:v>
                </c:pt>
                <c:pt idx="2">
                  <c:v>13</c:v>
                </c:pt>
                <c:pt idx="3">
                  <c:v>5.2</c:v>
                </c:pt>
                <c:pt idx="4">
                  <c:v>3.3</c:v>
                </c:pt>
                <c:pt idx="5">
                  <c:v>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world population (%)</c:v>
                </c:pt>
              </c:strCache>
            </c:strRef>
          </c:tx>
          <c:spPr>
            <a:solidFill>
              <a:srgbClr val="8FB3A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</c:v>
                  </c:pt>
                  <c:pt idx="1">
                    <c:v>North America</c:v>
                  </c:pt>
                  <c:pt idx="2">
                    <c:v>Europe</c:v>
                  </c:pt>
                  <c:pt idx="3">
                    <c:v>Africa</c:v>
                  </c:pt>
                  <c:pt idx="4">
                    <c:v>South America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59</c:v>
                </c:pt>
                <c:pt idx="1">
                  <c:v>7.5</c:v>
                </c:pt>
                <c:pt idx="2">
                  <c:v>9.1</c:v>
                </c:pt>
                <c:pt idx="3">
                  <c:v>18.6</c:v>
                </c:pt>
                <c:pt idx="4">
                  <c:v>5.3</c:v>
                </c:pt>
                <c:pt idx="5">
                  <c:v>0.6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Share of global GHG by population size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global GHG (%)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&lt;1M
(41)</c:v>
                  </c:pt>
                  <c:pt idx="1">
                    <c:v>1–10M
(62)</c:v>
                  </c:pt>
                  <c:pt idx="2">
                    <c:v>10–50M
(64)</c:v>
                  </c:pt>
                  <c:pt idx="3">
                    <c:v>50–200M
(24)</c:v>
                  </c:pt>
                  <c:pt idx="4">
                    <c:v>&gt;200M
(7)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</c:v>
                </c:pt>
                <c:pt idx="1">
                  <c:v>4.3</c:v>
                </c:pt>
                <c:pt idx="2">
                  <c:v>15.3</c:v>
                </c:pt>
                <c:pt idx="3">
                  <c:v>22.5</c:v>
                </c:pt>
                <c:pt idx="4">
                  <c:v>57.7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GHG per person by population size (t CO₂e)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 CO₂e per person</c:v>
                </c:pt>
              </c:strCache>
            </c:strRef>
          </c:tx>
          <c:spPr>
            <a:solidFill>
              <a:srgbClr val="2F7D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&lt;1M</c:v>
                  </c:pt>
                  <c:pt idx="1">
                    <c:v>1–10M</c:v>
                  </c:pt>
                  <c:pt idx="2">
                    <c:v>10–50M</c:v>
                  </c:pt>
                  <c:pt idx="3">
                    <c:v>50–200M</c:v>
                  </c:pt>
                  <c:pt idx="4">
                    <c:v>&gt;200M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5.1</c:v>
                </c:pt>
                <c:pt idx="1">
                  <c:v>6.4</c:v>
                </c:pt>
                <c:pt idx="2">
                  <c:v>4.4</c:v>
                </c:pt>
                <c:pt idx="3">
                  <c:v>4.6</c:v>
                </c:pt>
                <c:pt idx="4">
                  <c:v>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Highest GHG per person, t CO₂e (countries ≥ 1M people)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 CO₂e per person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United States</c:v>
                  </c:pt>
                  <c:pt idx="1">
                    <c:v>Australia</c:v>
                  </c:pt>
                  <c:pt idx="2">
                    <c:v>Mongolia</c:v>
                  </c:pt>
                  <c:pt idx="3">
                    <c:v>Oman</c:v>
                  </c:pt>
                  <c:pt idx="4">
                    <c:v>United Arab Emirates</c:v>
                  </c:pt>
                  <c:pt idx="5">
                    <c:v>Saudi Arabia</c:v>
                  </c:pt>
                  <c:pt idx="6">
                    <c:v>Trinidad and Tobago</c:v>
                  </c:pt>
                  <c:pt idx="7">
                    <c:v>Kuwait</c:v>
                  </c:pt>
                  <c:pt idx="8">
                    <c:v>Bahrain</c:v>
                  </c:pt>
                  <c:pt idx="9">
                    <c:v>Qatar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16.2</c:v>
                </c:pt>
                <c:pt idx="1">
                  <c:v>17.1</c:v>
                </c:pt>
                <c:pt idx="2">
                  <c:v>19.4</c:v>
                </c:pt>
                <c:pt idx="3">
                  <c:v>21.8</c:v>
                </c:pt>
                <c:pt idx="4">
                  <c:v>23.6</c:v>
                </c:pt>
                <c:pt idx="5">
                  <c:v>23.7</c:v>
                </c:pt>
                <c:pt idx="6">
                  <c:v>27.1</c:v>
                </c:pt>
                <c:pt idx="7">
                  <c:v>34.4</c:v>
                </c:pt>
                <c:pt idx="8">
                  <c:v>39.2</c:v>
                </c:pt>
                <c:pt idx="9">
                  <c:v>48.8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Share of global GHG by annual government revenue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global GHG (%)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&lt;$10B
(93)</c:v>
                  </c:pt>
                  <c:pt idx="1">
                    <c:v>$10–50B
(41)</c:v>
                  </c:pt>
                  <c:pt idx="2">
                    <c:v>$50–200B
(30)</c:v>
                  </c:pt>
                  <c:pt idx="3">
                    <c:v>$200B–1T
(19)</c:v>
                  </c:pt>
                  <c:pt idx="4">
                    <c:v>&gt;$1T
(7)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2.3</c:v>
                </c:pt>
                <c:pt idx="1">
                  <c:v>5.3</c:v>
                </c:pt>
                <c:pt idx="2">
                  <c:v>14</c:v>
                </c:pt>
                <c:pt idx="3">
                  <c:v>28.2</c:v>
                </c:pt>
                <c:pt idx="4">
                  <c:v>50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t CO₂e per US$1M of government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 CO₂e per US$1M revenue</c:v>
                </c:pt>
              </c:strCache>
            </c:strRef>
          </c:tx>
          <c:spPr>
            <a:solidFill>
              <a:srgbClr val="2F7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Africa</c:v>
                  </c:pt>
                  <c:pt idx="1">
                    <c:v>Asia</c:v>
                  </c:pt>
                  <c:pt idx="2">
                    <c:v>South America</c:v>
                  </c:pt>
                  <c:pt idx="3">
                    <c:v>North America</c:v>
                  </c:pt>
                  <c:pt idx="4">
                    <c:v>Oceania</c:v>
                  </c:pt>
                  <c:pt idx="5">
                    <c:v>Europe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3914</c:v>
                </c:pt>
                <c:pt idx="1">
                  <c:v>2621</c:v>
                </c:pt>
                <c:pt idx="2">
                  <c:v>1032</c:v>
                </c:pt>
                <c:pt idx="3">
                  <c:v>687</c:v>
                </c:pt>
                <c:pt idx="4">
                  <c:v>669</c:v>
                </c:pt>
                <c:pt idx="5">
                  <c:v>482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GHG per person by government revenue per person (t CO₂e)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 CO₂e per person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&lt;$500
(45)</c:v>
                  </c:pt>
                  <c:pt idx="1">
                    <c:v>$500–2k
(45)</c:v>
                  </c:pt>
                  <c:pt idx="2">
                    <c:v>$2k–8k
(53)</c:v>
                  </c:pt>
                  <c:pt idx="3">
                    <c:v>$8k–20k
(28)</c:v>
                  </c:pt>
                  <c:pt idx="4">
                    <c:v>&gt;$20k
(19)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3.2</c:v>
                </c:pt>
                <c:pt idx="2">
                  <c:v>8.6</c:v>
                </c:pt>
                <c:pt idx="3">
                  <c:v>9</c:v>
                </c:pt>
                <c:pt idx="4">
                  <c:v>12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Share of global GHG by land area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global GHG (%)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&lt;10k km²
(31)</c:v>
                  </c:pt>
                  <c:pt idx="1">
                    <c:v>10k–100k
(57)</c:v>
                  </c:pt>
                  <c:pt idx="2">
                    <c:v>100k–500k
(54)</c:v>
                  </c:pt>
                  <c:pt idx="3">
                    <c:v>500k–2M
(38)</c:v>
                  </c:pt>
                  <c:pt idx="4">
                    <c:v>&gt;2M km²
(12)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6</c:v>
                </c:pt>
                <c:pt idx="2">
                  <c:v>13.4</c:v>
                </c:pt>
                <c:pt idx="3">
                  <c:v>14.8</c:v>
                </c:pt>
                <c:pt idx="4">
                  <c:v>65.2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Highest GHG per km² of land (t CO₂e)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 CO₂e per km²</c:v>
                </c:pt>
              </c:strCache>
            </c:strRef>
          </c:tx>
          <c:spPr>
            <a:solidFill>
              <a:srgbClr val="2F7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South Korea</c:v>
                  </c:pt>
                  <c:pt idx="1">
                    <c:v>Taiwan</c:v>
                  </c:pt>
                  <c:pt idx="2">
                    <c:v>Trinidad and Tobago</c:v>
                  </c:pt>
                  <c:pt idx="3">
                    <c:v>Kuwait</c:v>
                  </c:pt>
                  <c:pt idx="4">
                    <c:v>Qatar</c:v>
                  </c:pt>
                  <c:pt idx="5">
                    <c:v>Hong Kong</c:v>
                  </c:pt>
                  <c:pt idx="6">
                    <c:v>Bahrain</c:v>
                  </c:pt>
                  <c:pt idx="7">
                    <c:v>Singapore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6366</c:v>
                </c:pt>
                <c:pt idx="1">
                  <c:v>7727</c:v>
                </c:pt>
                <c:pt idx="2">
                  <c:v>7953</c:v>
                </c:pt>
                <c:pt idx="3">
                  <c:v>9523</c:v>
                </c:pt>
                <c:pt idx="4">
                  <c:v>12934</c:v>
                </c:pt>
                <c:pt idx="5">
                  <c:v>35139</c:v>
                </c:pt>
                <c:pt idx="6">
                  <c:v>78661</c:v>
                </c:pt>
                <c:pt idx="7">
                  <c:v>85021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GHG per person by population density (t CO₂e)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Pooled (group total ÷ group population)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&lt;25 /km²
(33)</c:v>
                  </c:pt>
                  <c:pt idx="1">
                    <c:v>25–75
(46)</c:v>
                  </c:pt>
                  <c:pt idx="2">
                    <c:v>75–150
(53)</c:v>
                  </c:pt>
                  <c:pt idx="3">
                    <c:v>150–300
(31)</c:v>
                  </c:pt>
                  <c:pt idx="4">
                    <c:v>&gt;300 /km²
(29)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10.3</c:v>
                </c:pt>
                <c:pt idx="1">
                  <c:v>6.3</c:v>
                </c:pt>
                <c:pt idx="2">
                  <c:v>3.4</c:v>
                </c:pt>
                <c:pt idx="3">
                  <c:v>7.7</c:v>
                </c:pt>
                <c:pt idx="4">
                  <c:v>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 country</c:v>
                </c:pt>
              </c:strCache>
            </c:strRef>
          </c:tx>
          <c:spPr>
            <a:solidFill>
              <a:srgbClr val="8FB3A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&lt;25 /km²
(33)</c:v>
                  </c:pt>
                  <c:pt idx="1">
                    <c:v>25–75
(46)</c:v>
                  </c:pt>
                  <c:pt idx="2">
                    <c:v>75–150
(53)</c:v>
                  </c:pt>
                  <c:pt idx="3">
                    <c:v>150–300
(31)</c:v>
                  </c:pt>
                  <c:pt idx="4">
                    <c:v>&gt;300 /km²
(29)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5.5</c:v>
                </c:pt>
                <c:pt idx="1">
                  <c:v>3.3</c:v>
                </c:pt>
                <c:pt idx="2">
                  <c:v>2.8</c:v>
                </c:pt>
                <c:pt idx="3">
                  <c:v>3.4</c:v>
                </c:pt>
                <c:pt idx="4">
                  <c:v>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5"/>
          <c:w val="0.78"/>
          <c:h val="0.7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Asia – GHG (left)</c:v>
                </c:pt>
              </c:strCache>
            </c:strRef>
          </c:tx>
          <c:spPr>
            <a:solidFill>
              <a:srgbClr val="D9661F"/>
            </a:solidFill>
            <a:ln w="34925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11369</c:v>
                </c:pt>
                <c:pt idx="1">
                  <c:v>11884</c:v>
                </c:pt>
                <c:pt idx="2">
                  <c:v>13022</c:v>
                </c:pt>
                <c:pt idx="3">
                  <c:v>13758</c:v>
                </c:pt>
                <c:pt idx="4">
                  <c:v>14713</c:v>
                </c:pt>
                <c:pt idx="5">
                  <c:v>15662</c:v>
                </c:pt>
                <c:pt idx="6">
                  <c:v>16433</c:v>
                </c:pt>
                <c:pt idx="7">
                  <c:v>17186</c:v>
                </c:pt>
                <c:pt idx="8">
                  <c:v>17739</c:v>
                </c:pt>
                <c:pt idx="9">
                  <c:v>18997</c:v>
                </c:pt>
                <c:pt idx="10">
                  <c:v>20410</c:v>
                </c:pt>
                <c:pt idx="11">
                  <c:v>21112</c:v>
                </c:pt>
                <c:pt idx="12">
                  <c:v>21360</c:v>
                </c:pt>
                <c:pt idx="13">
                  <c:v>21683</c:v>
                </c:pt>
                <c:pt idx="14">
                  <c:v>21795</c:v>
                </c:pt>
                <c:pt idx="15">
                  <c:v>21975</c:v>
                </c:pt>
                <c:pt idx="16">
                  <c:v>22618</c:v>
                </c:pt>
                <c:pt idx="17">
                  <c:v>23305</c:v>
                </c:pt>
                <c:pt idx="18">
                  <c:v>23902</c:v>
                </c:pt>
                <c:pt idx="19">
                  <c:v>23627</c:v>
                </c:pt>
                <c:pt idx="20">
                  <c:v>24560</c:v>
                </c:pt>
                <c:pt idx="21">
                  <c:v>25431</c:v>
                </c:pt>
                <c:pt idx="22">
                  <c:v>26298</c:v>
                </c:pt>
                <c:pt idx="23">
                  <c:v>26755</c:v>
                </c:pt>
                <c:pt idx="24">
                  <c:v>26952</c:v>
                </c:pt>
                <c:pt idx="25">
                  <c:v>26909</c:v>
                </c:pt>
                <c:pt idx="26">
                  <c:v>27171</c:v>
                </c:pt>
                <c:pt idx="27">
                  <c:v>27445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Asia – revenue (right)</c:v>
                </c:pt>
              </c:strCache>
            </c:strRef>
          </c:tx>
          <c:spPr>
            <a:solidFill>
              <a:srgbClr val="D9661F"/>
            </a:solidFill>
            <a:ln w="22225" cap="flat">
              <a:solidFill>
                <a:srgbClr val="D9661F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2108</c:v>
                </c:pt>
                <c:pt idx="1">
                  <c:v>2017</c:v>
                </c:pt>
                <c:pt idx="2">
                  <c:v>2241</c:v>
                </c:pt>
                <c:pt idx="3">
                  <c:v>2583</c:v>
                </c:pt>
                <c:pt idx="4">
                  <c:v>2878</c:v>
                </c:pt>
                <c:pt idx="5">
                  <c:v>3143</c:v>
                </c:pt>
                <c:pt idx="6">
                  <c:v>3547</c:v>
                </c:pt>
                <c:pt idx="7">
                  <c:v>4387</c:v>
                </c:pt>
                <c:pt idx="8">
                  <c:v>4246</c:v>
                </c:pt>
                <c:pt idx="9">
                  <c:v>4986</c:v>
                </c:pt>
                <c:pt idx="10">
                  <c:v>6130</c:v>
                </c:pt>
                <c:pt idx="11">
                  <c:v>6653</c:v>
                </c:pt>
                <c:pt idx="12">
                  <c:v>6742</c:v>
                </c:pt>
                <c:pt idx="13">
                  <c:v>7003</c:v>
                </c:pt>
                <c:pt idx="14">
                  <c:v>6837</c:v>
                </c:pt>
                <c:pt idx="15">
                  <c:v>7080</c:v>
                </c:pt>
                <c:pt idx="16">
                  <c:v>7575</c:v>
                </c:pt>
                <c:pt idx="17">
                  <c:v>8234</c:v>
                </c:pt>
                <c:pt idx="18">
                  <c:v>8272</c:v>
                </c:pt>
                <c:pt idx="19">
                  <c:v>7819</c:v>
                </c:pt>
                <c:pt idx="20">
                  <c:v>9227</c:v>
                </c:pt>
                <c:pt idx="21">
                  <c:v>9285</c:v>
                </c:pt>
                <c:pt idx="22">
                  <c:v>9492</c:v>
                </c:pt>
                <c:pt idx="23">
                  <c:v>9749</c:v>
                </c:pt>
                <c:pt idx="24">
                  <c:v>10087</c:v>
                </c:pt>
                <c:pt idx="25">
                  <c:v>10644</c:v>
                </c:pt>
                <c:pt idx="26">
                  <c:v>11442</c:v>
                </c:pt>
                <c:pt idx="27">
                  <c:v>12165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DE5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1B2A2F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1B2A2F"/>
                    </a:solidFill>
                    <a:latin typeface="Arial"/>
                  </a:rPr>
                  <a:t>GHG, Mt CO₂e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F86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F86"/>
                    </a:solidFill>
                    <a:latin typeface="Arial"/>
                  </a:rPr>
                  <a:t>Gov. revenue, US$ B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5"/>
          <c:w val="0.78"/>
          <c:h val="0.7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 – GHG (left)</c:v>
                </c:pt>
              </c:strCache>
            </c:strRef>
          </c:tx>
          <c:spPr>
            <a:solidFill>
              <a:srgbClr val="B23A2E"/>
            </a:solidFill>
            <a:ln w="34925" cap="flat">
              <a:solidFill>
                <a:srgbClr val="B23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23A2E"/>
              </a:solidFill>
              <a:ln w="9525" cap="flat">
                <a:solidFill>
                  <a:srgbClr val="B2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7884</c:v>
                </c:pt>
                <c:pt idx="1">
                  <c:v>7921</c:v>
                </c:pt>
                <c:pt idx="2">
                  <c:v>8041</c:v>
                </c:pt>
                <c:pt idx="3">
                  <c:v>8143</c:v>
                </c:pt>
                <c:pt idx="4">
                  <c:v>8194</c:v>
                </c:pt>
                <c:pt idx="5">
                  <c:v>8149</c:v>
                </c:pt>
                <c:pt idx="6">
                  <c:v>8263</c:v>
                </c:pt>
                <c:pt idx="7">
                  <c:v>8053</c:v>
                </c:pt>
                <c:pt idx="8">
                  <c:v>7521</c:v>
                </c:pt>
                <c:pt idx="9">
                  <c:v>7710</c:v>
                </c:pt>
                <c:pt idx="10">
                  <c:v>7629</c:v>
                </c:pt>
                <c:pt idx="11">
                  <c:v>7422</c:v>
                </c:pt>
                <c:pt idx="12">
                  <c:v>7571</c:v>
                </c:pt>
                <c:pt idx="13">
                  <c:v>7636</c:v>
                </c:pt>
                <c:pt idx="14">
                  <c:v>7463</c:v>
                </c:pt>
                <c:pt idx="15">
                  <c:v>7291</c:v>
                </c:pt>
                <c:pt idx="16">
                  <c:v>7251</c:v>
                </c:pt>
                <c:pt idx="17">
                  <c:v>7457</c:v>
                </c:pt>
                <c:pt idx="18">
                  <c:v>7366</c:v>
                </c:pt>
                <c:pt idx="19">
                  <c:v>6643</c:v>
                </c:pt>
                <c:pt idx="20">
                  <c:v>7061</c:v>
                </c:pt>
                <c:pt idx="21">
                  <c:v>7142</c:v>
                </c:pt>
                <c:pt idx="22">
                  <c:v>7032</c:v>
                </c:pt>
                <c:pt idx="23">
                  <c:v>7011</c:v>
                </c:pt>
                <c:pt idx="24">
                  <c:v>7133</c:v>
                </c:pt>
                <c:pt idx="25">
                  <c:v>7030</c:v>
                </c:pt>
                <c:pt idx="26">
                  <c:v>6962</c:v>
                </c:pt>
                <c:pt idx="27">
                  <c:v>6894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 – GHG (left)</c:v>
                </c:pt>
              </c:strCache>
            </c:strRef>
          </c:tx>
          <c:spPr>
            <a:solidFill>
              <a:srgbClr val="2F7D6B"/>
            </a:solidFill>
            <a:ln w="34925" cap="flat">
              <a:solidFill>
                <a:srgbClr val="2F7D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7120</c:v>
                </c:pt>
                <c:pt idx="1">
                  <c:v>7084</c:v>
                </c:pt>
                <c:pt idx="2">
                  <c:v>7230</c:v>
                </c:pt>
                <c:pt idx="3">
                  <c:v>7254</c:v>
                </c:pt>
                <c:pt idx="4">
                  <c:v>7260</c:v>
                </c:pt>
                <c:pt idx="5">
                  <c:v>7357</c:v>
                </c:pt>
                <c:pt idx="6">
                  <c:v>7303</c:v>
                </c:pt>
                <c:pt idx="7">
                  <c:v>7216</c:v>
                </c:pt>
                <c:pt idx="8">
                  <c:v>6676</c:v>
                </c:pt>
                <c:pt idx="9">
                  <c:v>6912</c:v>
                </c:pt>
                <c:pt idx="10">
                  <c:v>6847</c:v>
                </c:pt>
                <c:pt idx="11">
                  <c:v>6803</c:v>
                </c:pt>
                <c:pt idx="12">
                  <c:v>6637</c:v>
                </c:pt>
                <c:pt idx="13">
                  <c:v>6392</c:v>
                </c:pt>
                <c:pt idx="14">
                  <c:v>6390</c:v>
                </c:pt>
                <c:pt idx="15">
                  <c:v>6385</c:v>
                </c:pt>
                <c:pt idx="16">
                  <c:v>6432</c:v>
                </c:pt>
                <c:pt idx="17">
                  <c:v>6434</c:v>
                </c:pt>
                <c:pt idx="18">
                  <c:v>6267</c:v>
                </c:pt>
                <c:pt idx="19">
                  <c:v>5832</c:v>
                </c:pt>
                <c:pt idx="20">
                  <c:v>6101</c:v>
                </c:pt>
                <c:pt idx="21">
                  <c:v>5917</c:v>
                </c:pt>
                <c:pt idx="22">
                  <c:v>5702</c:v>
                </c:pt>
                <c:pt idx="23">
                  <c:v>5699</c:v>
                </c:pt>
                <c:pt idx="24">
                  <c:v>5626</c:v>
                </c:pt>
                <c:pt idx="25">
                  <c:v>5496</c:v>
                </c:pt>
                <c:pt idx="26">
                  <c:v>5431</c:v>
                </c:pt>
                <c:pt idx="27">
                  <c:v>5369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North America – revenue (right)</c:v>
                </c:pt>
              </c:strCache>
            </c:strRef>
          </c:tx>
          <c:spPr>
            <a:solidFill>
              <a:srgbClr val="B23A2E"/>
            </a:solidFill>
            <a:ln w="22225" cap="flat">
              <a:solidFill>
                <a:srgbClr val="B23A2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B2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3880</c:v>
                </c:pt>
                <c:pt idx="1">
                  <c:v>3738</c:v>
                </c:pt>
                <c:pt idx="2">
                  <c:v>3886</c:v>
                </c:pt>
                <c:pt idx="3">
                  <c:v>4195</c:v>
                </c:pt>
                <c:pt idx="4">
                  <c:v>4708</c:v>
                </c:pt>
                <c:pt idx="5">
                  <c:v>5154</c:v>
                </c:pt>
                <c:pt idx="6">
                  <c:v>5451</c:v>
                </c:pt>
                <c:pt idx="7">
                  <c:v>5466</c:v>
                </c:pt>
                <c:pt idx="8">
                  <c:v>4888</c:v>
                </c:pt>
                <c:pt idx="9">
                  <c:v>5251</c:v>
                </c:pt>
                <c:pt idx="10">
                  <c:v>5566</c:v>
                </c:pt>
                <c:pt idx="11">
                  <c:v>5787</c:v>
                </c:pt>
                <c:pt idx="12">
                  <c:v>6351</c:v>
                </c:pt>
                <c:pt idx="13">
                  <c:v>6580</c:v>
                </c:pt>
                <c:pt idx="14">
                  <c:v>6730</c:v>
                </c:pt>
                <c:pt idx="15">
                  <c:v>6776</c:v>
                </c:pt>
                <c:pt idx="16">
                  <c:v>6986</c:v>
                </c:pt>
                <c:pt idx="17">
                  <c:v>7271</c:v>
                </c:pt>
                <c:pt idx="18">
                  <c:v>7552</c:v>
                </c:pt>
                <c:pt idx="19">
                  <c:v>7561</c:v>
                </c:pt>
                <c:pt idx="20">
                  <c:v>8780</c:v>
                </c:pt>
                <c:pt idx="21">
                  <c:v>9973</c:v>
                </c:pt>
                <c:pt idx="22">
                  <c:v>9696</c:v>
                </c:pt>
                <c:pt idx="23">
                  <c:v>10284</c:v>
                </c:pt>
                <c:pt idx="24">
                  <c:v>10971</c:v>
                </c:pt>
                <c:pt idx="25">
                  <c:v>11413</c:v>
                </c:pt>
                <c:pt idx="26">
                  <c:v>12131</c:v>
                </c:pt>
                <c:pt idx="27">
                  <c:v>12607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Europe – revenue (right)</c:v>
                </c:pt>
              </c:strCache>
            </c:strRef>
          </c:tx>
          <c:spPr>
            <a:solidFill>
              <a:srgbClr val="2F7D6B"/>
            </a:solidFill>
            <a:ln w="22225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23A2E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4265</c:v>
                </c:pt>
                <c:pt idx="1">
                  <c:v>4608</c:v>
                </c:pt>
                <c:pt idx="2">
                  <c:v>5603</c:v>
                </c:pt>
                <c:pt idx="3">
                  <c:v>6487</c:v>
                </c:pt>
                <c:pt idx="4">
                  <c:v>6932</c:v>
                </c:pt>
                <c:pt idx="5">
                  <c:v>7537</c:v>
                </c:pt>
                <c:pt idx="6">
                  <c:v>8809</c:v>
                </c:pt>
                <c:pt idx="7">
                  <c:v>9643</c:v>
                </c:pt>
                <c:pt idx="8">
                  <c:v>8397</c:v>
                </c:pt>
                <c:pt idx="9">
                  <c:v>8483</c:v>
                </c:pt>
                <c:pt idx="10">
                  <c:v>9475</c:v>
                </c:pt>
                <c:pt idx="11">
                  <c:v>9162</c:v>
                </c:pt>
                <c:pt idx="12">
                  <c:v>9639</c:v>
                </c:pt>
                <c:pt idx="13">
                  <c:v>9773</c:v>
                </c:pt>
                <c:pt idx="14">
                  <c:v>8333</c:v>
                </c:pt>
                <c:pt idx="15">
                  <c:v>8364</c:v>
                </c:pt>
                <c:pt idx="16">
                  <c:v>8902</c:v>
                </c:pt>
                <c:pt idx="17">
                  <c:v>9676</c:v>
                </c:pt>
                <c:pt idx="18">
                  <c:v>9518</c:v>
                </c:pt>
                <c:pt idx="19">
                  <c:v>9236</c:v>
                </c:pt>
                <c:pt idx="20">
                  <c:v>10683</c:v>
                </c:pt>
                <c:pt idx="21">
                  <c:v>10641</c:v>
                </c:pt>
                <c:pt idx="22">
                  <c:v>11256</c:v>
                </c:pt>
                <c:pt idx="23">
                  <c:v>11928</c:v>
                </c:pt>
                <c:pt idx="24">
                  <c:v>13182</c:v>
                </c:pt>
                <c:pt idx="25">
                  <c:v>14333</c:v>
                </c:pt>
                <c:pt idx="26">
                  <c:v>14787</c:v>
                </c:pt>
                <c:pt idx="27">
                  <c:v>15211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DE5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1B2A2F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1B2A2F"/>
                    </a:solidFill>
                    <a:latin typeface="Arial"/>
                  </a:rPr>
                  <a:t>GHG, Mt CO₂e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F86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F86"/>
                    </a:solidFill>
                    <a:latin typeface="Arial"/>
                  </a:rPr>
                  <a:t>Gov. revenue, US$ B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5"/>
          <c:w val="0.78"/>
          <c:h val="0.7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Africa – GHG (left)</c:v>
                </c:pt>
              </c:strCache>
            </c:strRef>
          </c:tx>
          <c:spPr>
            <a:solidFill>
              <a:srgbClr val="E9B44C"/>
            </a:solidFill>
            <a:ln w="34925" cap="flat">
              <a:solidFill>
                <a:srgbClr val="E9B4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9B44C"/>
              </a:solidFill>
              <a:ln w="9525" cap="flat">
                <a:solidFill>
                  <a:srgbClr val="E9B4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1655</c:v>
                </c:pt>
                <c:pt idx="1">
                  <c:v>1578</c:v>
                </c:pt>
                <c:pt idx="2">
                  <c:v>1720</c:v>
                </c:pt>
                <c:pt idx="3">
                  <c:v>1779</c:v>
                </c:pt>
                <c:pt idx="4">
                  <c:v>1794</c:v>
                </c:pt>
                <c:pt idx="5">
                  <c:v>1803</c:v>
                </c:pt>
                <c:pt idx="6">
                  <c:v>1810</c:v>
                </c:pt>
                <c:pt idx="7">
                  <c:v>1875</c:v>
                </c:pt>
                <c:pt idx="8">
                  <c:v>1858</c:v>
                </c:pt>
                <c:pt idx="9">
                  <c:v>1939</c:v>
                </c:pt>
                <c:pt idx="10">
                  <c:v>1981</c:v>
                </c:pt>
                <c:pt idx="11">
                  <c:v>2017</c:v>
                </c:pt>
                <c:pt idx="12">
                  <c:v>2020</c:v>
                </c:pt>
                <c:pt idx="13">
                  <c:v>2106</c:v>
                </c:pt>
                <c:pt idx="14">
                  <c:v>2088</c:v>
                </c:pt>
                <c:pt idx="15">
                  <c:v>2110</c:v>
                </c:pt>
                <c:pt idx="16">
                  <c:v>2141</c:v>
                </c:pt>
                <c:pt idx="17">
                  <c:v>2168</c:v>
                </c:pt>
                <c:pt idx="18">
                  <c:v>2249</c:v>
                </c:pt>
                <c:pt idx="19">
                  <c:v>2121</c:v>
                </c:pt>
                <c:pt idx="20">
                  <c:v>2241</c:v>
                </c:pt>
                <c:pt idx="21">
                  <c:v>2227</c:v>
                </c:pt>
                <c:pt idx="22">
                  <c:v>2259</c:v>
                </c:pt>
                <c:pt idx="23">
                  <c:v>2269</c:v>
                </c:pt>
                <c:pt idx="24">
                  <c:v>2293</c:v>
                </c:pt>
                <c:pt idx="25">
                  <c:v>2292</c:v>
                </c:pt>
                <c:pt idx="26">
                  <c:v>2318</c:v>
                </c:pt>
                <c:pt idx="27">
                  <c:v>2345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 America – GHG (left)</c:v>
                </c:pt>
              </c:strCache>
            </c:strRef>
          </c:tx>
          <c:spPr>
            <a:solidFill>
              <a:srgbClr val="8FB3A0"/>
            </a:solidFill>
            <a:ln w="34925" cap="flat">
              <a:solidFill>
                <a:srgbClr val="8FB3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FB3A0"/>
              </a:solidFill>
              <a:ln w="9525" cap="flat">
                <a:solidFill>
                  <a:srgbClr val="8FB3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1091</c:v>
                </c:pt>
                <c:pt idx="1">
                  <c:v>1116</c:v>
                </c:pt>
                <c:pt idx="2">
                  <c:v>1125</c:v>
                </c:pt>
                <c:pt idx="3">
                  <c:v>1174</c:v>
                </c:pt>
                <c:pt idx="4">
                  <c:v>1196</c:v>
                </c:pt>
                <c:pt idx="5">
                  <c:v>1227</c:v>
                </c:pt>
                <c:pt idx="6">
                  <c:v>1265</c:v>
                </c:pt>
                <c:pt idx="7">
                  <c:v>1309</c:v>
                </c:pt>
                <c:pt idx="8">
                  <c:v>1271</c:v>
                </c:pt>
                <c:pt idx="9">
                  <c:v>1393</c:v>
                </c:pt>
                <c:pt idx="10">
                  <c:v>1410</c:v>
                </c:pt>
                <c:pt idx="11">
                  <c:v>1469</c:v>
                </c:pt>
                <c:pt idx="12">
                  <c:v>1539</c:v>
                </c:pt>
                <c:pt idx="13">
                  <c:v>1559</c:v>
                </c:pt>
                <c:pt idx="14">
                  <c:v>1528</c:v>
                </c:pt>
                <c:pt idx="15">
                  <c:v>1482</c:v>
                </c:pt>
                <c:pt idx="16">
                  <c:v>1464</c:v>
                </c:pt>
                <c:pt idx="17">
                  <c:v>1419</c:v>
                </c:pt>
                <c:pt idx="18">
                  <c:v>1432</c:v>
                </c:pt>
                <c:pt idx="19">
                  <c:v>1312</c:v>
                </c:pt>
                <c:pt idx="20">
                  <c:v>1440</c:v>
                </c:pt>
                <c:pt idx="21">
                  <c:v>1438</c:v>
                </c:pt>
                <c:pt idx="22">
                  <c:v>1450</c:v>
                </c:pt>
                <c:pt idx="23">
                  <c:v>1451</c:v>
                </c:pt>
                <c:pt idx="24">
                  <c:v>1448</c:v>
                </c:pt>
                <c:pt idx="25">
                  <c:v>1430</c:v>
                </c:pt>
                <c:pt idx="26">
                  <c:v>1428</c:v>
                </c:pt>
                <c:pt idx="27">
                  <c:v>1427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Oceania – GHG (left)</c:v>
                </c:pt>
              </c:strCache>
            </c:strRef>
          </c:tx>
          <c:spPr>
            <a:solidFill>
              <a:srgbClr val="6B7F86"/>
            </a:solidFill>
            <a:ln w="34925" cap="flat">
              <a:solidFill>
                <a:srgbClr val="6B7F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B7F86"/>
              </a:solidFill>
              <a:ln w="9525" cap="flat">
                <a:solidFill>
                  <a:srgbClr val="6B7F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477</c:v>
                </c:pt>
                <c:pt idx="1">
                  <c:v>483</c:v>
                </c:pt>
                <c:pt idx="2">
                  <c:v>492</c:v>
                </c:pt>
                <c:pt idx="3">
                  <c:v>504</c:v>
                </c:pt>
                <c:pt idx="4">
                  <c:v>511</c:v>
                </c:pt>
                <c:pt idx="5">
                  <c:v>519</c:v>
                </c:pt>
                <c:pt idx="6">
                  <c:v>528</c:v>
                </c:pt>
                <c:pt idx="7">
                  <c:v>534</c:v>
                </c:pt>
                <c:pt idx="8">
                  <c:v>533</c:v>
                </c:pt>
                <c:pt idx="9">
                  <c:v>534</c:v>
                </c:pt>
                <c:pt idx="10">
                  <c:v>532</c:v>
                </c:pt>
                <c:pt idx="11">
                  <c:v>535</c:v>
                </c:pt>
                <c:pt idx="12">
                  <c:v>527</c:v>
                </c:pt>
                <c:pt idx="13">
                  <c:v>525</c:v>
                </c:pt>
                <c:pt idx="14">
                  <c:v>536</c:v>
                </c:pt>
                <c:pt idx="15">
                  <c:v>545</c:v>
                </c:pt>
                <c:pt idx="16">
                  <c:v>551</c:v>
                </c:pt>
                <c:pt idx="17">
                  <c:v>556</c:v>
                </c:pt>
                <c:pt idx="18">
                  <c:v>562</c:v>
                </c:pt>
                <c:pt idx="19">
                  <c:v>536</c:v>
                </c:pt>
                <c:pt idx="20">
                  <c:v>522</c:v>
                </c:pt>
                <c:pt idx="21">
                  <c:v>512</c:v>
                </c:pt>
                <c:pt idx="22">
                  <c:v>513</c:v>
                </c:pt>
                <c:pt idx="23">
                  <c:v>510</c:v>
                </c:pt>
                <c:pt idx="24">
                  <c:v>506</c:v>
                </c:pt>
                <c:pt idx="25">
                  <c:v>496</c:v>
                </c:pt>
                <c:pt idx="26">
                  <c:v>492</c:v>
                </c:pt>
                <c:pt idx="27">
                  <c:v>487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Africa – revenue (right)</c:v>
                </c:pt>
              </c:strCache>
            </c:strRef>
          </c:tx>
          <c:spPr>
            <a:solidFill>
              <a:srgbClr val="E9B44C"/>
            </a:solidFill>
            <a:ln w="22225" cap="flat">
              <a:solidFill>
                <a:srgbClr val="E9B44C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B7F86"/>
              </a:solidFill>
              <a:ln w="9525" cap="flat">
                <a:solidFill>
                  <a:srgbClr val="E9B4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155</c:v>
                </c:pt>
                <c:pt idx="1">
                  <c:v>149</c:v>
                </c:pt>
                <c:pt idx="2">
                  <c:v>184</c:v>
                </c:pt>
                <c:pt idx="3">
                  <c:v>231</c:v>
                </c:pt>
                <c:pt idx="4">
                  <c:v>296</c:v>
                </c:pt>
                <c:pt idx="5">
                  <c:v>362</c:v>
                </c:pt>
                <c:pt idx="6">
                  <c:v>404</c:v>
                </c:pt>
                <c:pt idx="7">
                  <c:v>517</c:v>
                </c:pt>
                <c:pt idx="8">
                  <c:v>395</c:v>
                </c:pt>
                <c:pt idx="9">
                  <c:v>480</c:v>
                </c:pt>
                <c:pt idx="10">
                  <c:v>535</c:v>
                </c:pt>
                <c:pt idx="11">
                  <c:v>585</c:v>
                </c:pt>
                <c:pt idx="12">
                  <c:v>559</c:v>
                </c:pt>
                <c:pt idx="13">
                  <c:v>543</c:v>
                </c:pt>
                <c:pt idx="14">
                  <c:v>442</c:v>
                </c:pt>
                <c:pt idx="15">
                  <c:v>394</c:v>
                </c:pt>
                <c:pt idx="16">
                  <c:v>429</c:v>
                </c:pt>
                <c:pt idx="17">
                  <c:v>488</c:v>
                </c:pt>
                <c:pt idx="18">
                  <c:v>499</c:v>
                </c:pt>
                <c:pt idx="19">
                  <c:v>435</c:v>
                </c:pt>
                <c:pt idx="20">
                  <c:v>521</c:v>
                </c:pt>
                <c:pt idx="21">
                  <c:v>606</c:v>
                </c:pt>
                <c:pt idx="22">
                  <c:v>570</c:v>
                </c:pt>
                <c:pt idx="23">
                  <c:v>566</c:v>
                </c:pt>
                <c:pt idx="24">
                  <c:v>620</c:v>
                </c:pt>
                <c:pt idx="25">
                  <c:v>730</c:v>
                </c:pt>
                <c:pt idx="26">
                  <c:v>774</c:v>
                </c:pt>
                <c:pt idx="27">
                  <c:v>796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South America – revenue (right)</c:v>
                </c:pt>
              </c:strCache>
            </c:strRef>
          </c:tx>
          <c:spPr>
            <a:solidFill>
              <a:srgbClr val="8FB3A0"/>
            </a:solidFill>
            <a:ln w="22225" cap="flat">
              <a:solidFill>
                <a:srgbClr val="8FB3A0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FB3A0"/>
              </a:solidFill>
              <a:ln w="9525" cap="flat">
                <a:solidFill>
                  <a:srgbClr val="8FB3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Sheet1!$F$2:$F$29</c:f>
              <c:numCache>
                <c:formatCode>General</c:formatCode>
                <c:ptCount val="28"/>
                <c:pt idx="0">
                  <c:v>365</c:v>
                </c:pt>
                <c:pt idx="1">
                  <c:v>319</c:v>
                </c:pt>
                <c:pt idx="2">
                  <c:v>326</c:v>
                </c:pt>
                <c:pt idx="3">
                  <c:v>410</c:v>
                </c:pt>
                <c:pt idx="4">
                  <c:v>555</c:v>
                </c:pt>
                <c:pt idx="5">
                  <c:v>678</c:v>
                </c:pt>
                <c:pt idx="6">
                  <c:v>845</c:v>
                </c:pt>
                <c:pt idx="7">
                  <c:v>1029</c:v>
                </c:pt>
                <c:pt idx="8">
                  <c:v>946</c:v>
                </c:pt>
                <c:pt idx="9">
                  <c:v>1220</c:v>
                </c:pt>
                <c:pt idx="10">
                  <c:v>1479</c:v>
                </c:pt>
                <c:pt idx="11">
                  <c:v>1494</c:v>
                </c:pt>
                <c:pt idx="12">
                  <c:v>1468</c:v>
                </c:pt>
                <c:pt idx="13">
                  <c:v>1398</c:v>
                </c:pt>
                <c:pt idx="14">
                  <c:v>1158</c:v>
                </c:pt>
                <c:pt idx="15">
                  <c:v>1120</c:v>
                </c:pt>
                <c:pt idx="16">
                  <c:v>1241</c:v>
                </c:pt>
                <c:pt idx="17">
                  <c:v>1191</c:v>
                </c:pt>
                <c:pt idx="18">
                  <c:v>1155</c:v>
                </c:pt>
                <c:pt idx="19">
                  <c:v>870</c:v>
                </c:pt>
                <c:pt idx="20">
                  <c:v>1089</c:v>
                </c:pt>
                <c:pt idx="21">
                  <c:v>1316</c:v>
                </c:pt>
                <c:pt idx="22">
                  <c:v>1387</c:v>
                </c:pt>
                <c:pt idx="23">
                  <c:v>1424</c:v>
                </c:pt>
                <c:pt idx="24">
                  <c:v>1500</c:v>
                </c:pt>
                <c:pt idx="25">
                  <c:v>1777</c:v>
                </c:pt>
                <c:pt idx="26">
                  <c:v>1866</c:v>
                </c:pt>
                <c:pt idx="27">
                  <c:v>1935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Oceania – revenue (right)</c:v>
                </c:pt>
              </c:strCache>
            </c:strRef>
          </c:tx>
          <c:spPr>
            <a:solidFill>
              <a:srgbClr val="6B7F86"/>
            </a:solidFill>
            <a:ln w="22225" cap="flat">
              <a:solidFill>
                <a:srgbClr val="6B7F86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FB3A0"/>
              </a:solidFill>
              <a:ln w="9525" cap="flat">
                <a:solidFill>
                  <a:srgbClr val="6B7F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Sheet1!$G$2:$G$29</c:f>
              <c:numCache>
                <c:formatCode>General</c:formatCode>
                <c:ptCount val="28"/>
                <c:pt idx="0">
                  <c:v>157</c:v>
                </c:pt>
                <c:pt idx="1">
                  <c:v>176</c:v>
                </c:pt>
                <c:pt idx="2">
                  <c:v>230</c:v>
                </c:pt>
                <c:pt idx="3">
                  <c:v>282</c:v>
                </c:pt>
                <c:pt idx="4">
                  <c:v>318</c:v>
                </c:pt>
                <c:pt idx="5">
                  <c:v>335</c:v>
                </c:pt>
                <c:pt idx="6">
                  <c:v>399</c:v>
                </c:pt>
                <c:pt idx="7">
                  <c:v>418</c:v>
                </c:pt>
                <c:pt idx="8">
                  <c:v>383</c:v>
                </c:pt>
                <c:pt idx="9">
                  <c:v>459</c:v>
                </c:pt>
                <c:pt idx="10">
                  <c:v>550</c:v>
                </c:pt>
                <c:pt idx="11">
                  <c:v>591</c:v>
                </c:pt>
                <c:pt idx="12">
                  <c:v>587</c:v>
                </c:pt>
                <c:pt idx="13">
                  <c:v>575</c:v>
                </c:pt>
                <c:pt idx="14">
                  <c:v>499</c:v>
                </c:pt>
                <c:pt idx="15">
                  <c:v>516</c:v>
                </c:pt>
                <c:pt idx="16">
                  <c:v>566</c:v>
                </c:pt>
                <c:pt idx="17">
                  <c:v>591</c:v>
                </c:pt>
                <c:pt idx="18">
                  <c:v>563</c:v>
                </c:pt>
                <c:pt idx="19">
                  <c:v>573</c:v>
                </c:pt>
                <c:pt idx="20">
                  <c:v>689</c:v>
                </c:pt>
                <c:pt idx="21">
                  <c:v>711</c:v>
                </c:pt>
                <c:pt idx="22">
                  <c:v>737</c:v>
                </c:pt>
                <c:pt idx="23">
                  <c:v>769</c:v>
                </c:pt>
                <c:pt idx="24">
                  <c:v>783</c:v>
                </c:pt>
                <c:pt idx="25">
                  <c:v>885</c:v>
                </c:pt>
                <c:pt idx="26">
                  <c:v>923</c:v>
                </c:pt>
                <c:pt idx="27">
                  <c:v>953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DE5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1B2A2F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1B2A2F"/>
                    </a:solidFill>
                    <a:latin typeface="Arial"/>
                  </a:rPr>
                  <a:t>GHG, Mt CO₂e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F86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F86"/>
                    </a:solidFill>
                    <a:latin typeface="Arial"/>
                  </a:rPr>
                  <a:t>Gov. revenue, US$ B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Share of world GHG emissions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2001</c:v>
                </c:pt>
              </c:strCache>
            </c:strRef>
          </c:tx>
          <c:spPr>
            <a:solidFill>
              <a:srgbClr val="8FB3A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</c:v>
                  </c:pt>
                  <c:pt idx="1">
                    <c:v>N. America</c:v>
                  </c:pt>
                  <c:pt idx="2">
                    <c:v>Europe</c:v>
                  </c:pt>
                  <c:pt idx="3">
                    <c:v>Africa</c:v>
                  </c:pt>
                  <c:pt idx="4">
                    <c:v>S. America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38.4</c:v>
                </c:pt>
                <c:pt idx="1">
                  <c:v>26.6</c:v>
                </c:pt>
                <c:pt idx="2">
                  <c:v>24.1</c:v>
                </c:pt>
                <c:pt idx="3">
                  <c:v>5.6</c:v>
                </c:pt>
                <c:pt idx="4">
                  <c:v>3.7</c:v>
                </c:pt>
                <c:pt idx="5">
                  <c:v>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</c:v>
                  </c:pt>
                  <c:pt idx="1">
                    <c:v>N. America</c:v>
                  </c:pt>
                  <c:pt idx="2">
                    <c:v>Europe</c:v>
                  </c:pt>
                  <c:pt idx="3">
                    <c:v>Africa</c:v>
                  </c:pt>
                  <c:pt idx="4">
                    <c:v>S. America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61.2</c:v>
                </c:pt>
                <c:pt idx="1">
                  <c:v>16</c:v>
                </c:pt>
                <c:pt idx="2">
                  <c:v>13</c:v>
                </c:pt>
                <c:pt idx="3">
                  <c:v>5.2</c:v>
                </c:pt>
                <c:pt idx="4">
                  <c:v>3.3</c:v>
                </c:pt>
                <c:pt idx="5">
                  <c:v>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Share of world government revenue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2001</c:v>
                </c:pt>
              </c:strCache>
            </c:strRef>
          </c:tx>
          <c:spPr>
            <a:solidFill>
              <a:srgbClr val="8FB3A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</c:v>
                  </c:pt>
                  <c:pt idx="1">
                    <c:v>N. America</c:v>
                  </c:pt>
                  <c:pt idx="2">
                    <c:v>Europe</c:v>
                  </c:pt>
                  <c:pt idx="3">
                    <c:v>Africa</c:v>
                  </c:pt>
                  <c:pt idx="4">
                    <c:v>S. America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19.3</c:v>
                </c:pt>
                <c:pt idx="1">
                  <c:v>35.5</c:v>
                </c:pt>
                <c:pt idx="2">
                  <c:v>39</c:v>
                </c:pt>
                <c:pt idx="3">
                  <c:v>1.4</c:v>
                </c:pt>
                <c:pt idx="4">
                  <c:v>3.3</c:v>
                </c:pt>
                <c:pt idx="5">
                  <c:v>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</c:v>
                  </c:pt>
                  <c:pt idx="1">
                    <c:v>N. America</c:v>
                  </c:pt>
                  <c:pt idx="2">
                    <c:v>Europe</c:v>
                  </c:pt>
                  <c:pt idx="3">
                    <c:v>Africa</c:v>
                  </c:pt>
                  <c:pt idx="4">
                    <c:v>S. America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28.1</c:v>
                </c:pt>
                <c:pt idx="1">
                  <c:v>29.6</c:v>
                </c:pt>
                <c:pt idx="2">
                  <c:v>34.4</c:v>
                </c:pt>
                <c:pt idx="3">
                  <c:v>1.6</c:v>
                </c:pt>
                <c:pt idx="4">
                  <c:v>4.1</c:v>
                </c:pt>
                <c:pt idx="5">
                  <c:v>2.2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 change, 2001–2024 (%)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+0;-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</c:v>
                  </c:pt>
                  <c:pt idx="1">
                    <c:v>North America</c:v>
                  </c:pt>
                  <c:pt idx="2">
                    <c:v>Europe</c:v>
                  </c:pt>
                  <c:pt idx="3">
                    <c:v>Africa</c:v>
                  </c:pt>
                  <c:pt idx="4">
                    <c:v>South America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135</c:v>
                </c:pt>
                <c:pt idx="1">
                  <c:v>-11</c:v>
                </c:pt>
                <c:pt idx="2">
                  <c:v>-20</c:v>
                </c:pt>
                <c:pt idx="3">
                  <c:v>37</c:v>
                </c:pt>
                <c:pt idx="4">
                  <c:v>33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change, 2001–2024 (%, nominal US$)</c:v>
                </c:pt>
              </c:strCache>
            </c:strRef>
          </c:tx>
          <c:spPr>
            <a:solidFill>
              <a:srgbClr val="8FB3A0"/>
            </a:solidFill>
            <a:effectLst/>
          </c:spPr>
          <c:invertIfNegative val="0"/>
          <c:dLbls>
            <c:numFmt formatCode="+0;-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</c:v>
                  </c:pt>
                  <c:pt idx="1">
                    <c:v>North America</c:v>
                  </c:pt>
                  <c:pt idx="2">
                    <c:v>Europe</c:v>
                  </c:pt>
                  <c:pt idx="3">
                    <c:v>Africa</c:v>
                  </c:pt>
                  <c:pt idx="4">
                    <c:v>South America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363</c:v>
                </c:pt>
                <c:pt idx="1">
                  <c:v>165</c:v>
                </c:pt>
                <c:pt idx="2">
                  <c:v>180</c:v>
                </c:pt>
                <c:pt idx="3">
                  <c:v>265</c:v>
                </c:pt>
                <c:pt idx="4">
                  <c:v>290</c:v>
                </c:pt>
                <c:pt idx="5">
                  <c:v>391</c:v>
                </c:pt>
              </c:numCache>
            </c:numRef>
          </c:val>
        </c:ser>
        <c:dLbls>
          <c:numFmt formatCode="+0;-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4380</c:v>
                </c:pt>
                <c:pt idx="1">
                  <c:v>4772</c:v>
                </c:pt>
                <c:pt idx="2">
                  <c:v>5577</c:v>
                </c:pt>
                <c:pt idx="3">
                  <c:v>6015</c:v>
                </c:pt>
                <c:pt idx="4">
                  <c:v>6746</c:v>
                </c:pt>
                <c:pt idx="5">
                  <c:v>7403</c:v>
                </c:pt>
                <c:pt idx="6">
                  <c:v>7926</c:v>
                </c:pt>
                <c:pt idx="7">
                  <c:v>8442</c:v>
                </c:pt>
                <c:pt idx="8">
                  <c:v>8824</c:v>
                </c:pt>
                <c:pt idx="9">
                  <c:v>9601</c:v>
                </c:pt>
                <c:pt idx="10">
                  <c:v>10605</c:v>
                </c:pt>
                <c:pt idx="11">
                  <c:v>10854</c:v>
                </c:pt>
                <c:pt idx="12">
                  <c:v>11042</c:v>
                </c:pt>
                <c:pt idx="13">
                  <c:v>11087</c:v>
                </c:pt>
                <c:pt idx="14">
                  <c:v>10967</c:v>
                </c:pt>
                <c:pt idx="15">
                  <c:v>10815</c:v>
                </c:pt>
                <c:pt idx="16">
                  <c:v>11098</c:v>
                </c:pt>
                <c:pt idx="17">
                  <c:v>11488</c:v>
                </c:pt>
                <c:pt idx="18">
                  <c:v>11889</c:v>
                </c:pt>
                <c:pt idx="19">
                  <c:v>12092</c:v>
                </c:pt>
                <c:pt idx="20">
                  <c:v>12538</c:v>
                </c:pt>
                <c:pt idx="21">
                  <c:v>13032</c:v>
                </c:pt>
                <c:pt idx="22">
                  <c:v>13532</c:v>
                </c:pt>
                <c:pt idx="23">
                  <c:v>13699</c:v>
                </c:pt>
                <c:pt idx="24">
                  <c:v>13699</c:v>
                </c:pt>
                <c:pt idx="25">
                  <c:v>13630</c:v>
                </c:pt>
                <c:pt idx="26">
                  <c:v>13630</c:v>
                </c:pt>
                <c:pt idx="27">
                  <c:v>13630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13699</c:v>
                </c:pt>
                <c:pt idx="24">
                  <c:v>13658</c:v>
                </c:pt>
                <c:pt idx="25">
                  <c:v>13453</c:v>
                </c:pt>
                <c:pt idx="26">
                  <c:v>13251</c:v>
                </c:pt>
                <c:pt idx="27">
                  <c:v>13052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13699</c:v>
                </c:pt>
                <c:pt idx="24">
                  <c:v>13753</c:v>
                </c:pt>
                <c:pt idx="25">
                  <c:v>13891</c:v>
                </c:pt>
                <c:pt idx="26">
                  <c:v>14099</c:v>
                </c:pt>
                <c:pt idx="27">
                  <c:v>14311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198</c:v>
                </c:pt>
                <c:pt idx="1">
                  <c:v>228</c:v>
                </c:pt>
                <c:pt idx="2">
                  <c:v>262</c:v>
                </c:pt>
                <c:pt idx="3">
                  <c:v>319</c:v>
                </c:pt>
                <c:pt idx="4">
                  <c:v>386</c:v>
                </c:pt>
                <c:pt idx="5">
                  <c:v>474</c:v>
                </c:pt>
                <c:pt idx="6">
                  <c:v>648</c:v>
                </c:pt>
                <c:pt idx="7">
                  <c:v>1031</c:v>
                </c:pt>
                <c:pt idx="8">
                  <c:v>1217</c:v>
                </c:pt>
                <c:pt idx="9">
                  <c:v>1493</c:v>
                </c:pt>
                <c:pt idx="10">
                  <c:v>2025</c:v>
                </c:pt>
                <c:pt idx="11">
                  <c:v>2379</c:v>
                </c:pt>
                <c:pt idx="12">
                  <c:v>2670</c:v>
                </c:pt>
                <c:pt idx="13">
                  <c:v>2969</c:v>
                </c:pt>
                <c:pt idx="14">
                  <c:v>3223</c:v>
                </c:pt>
                <c:pt idx="15">
                  <c:v>3248</c:v>
                </c:pt>
                <c:pt idx="16">
                  <c:v>3589</c:v>
                </c:pt>
                <c:pt idx="17">
                  <c:v>4012</c:v>
                </c:pt>
                <c:pt idx="18">
                  <c:v>4028</c:v>
                </c:pt>
                <c:pt idx="19">
                  <c:v>3819</c:v>
                </c:pt>
                <c:pt idx="20">
                  <c:v>4729</c:v>
                </c:pt>
                <c:pt idx="21">
                  <c:v>4644</c:v>
                </c:pt>
                <c:pt idx="22">
                  <c:v>4780</c:v>
                </c:pt>
                <c:pt idx="23">
                  <c:v>4869</c:v>
                </c:pt>
                <c:pt idx="24">
                  <c:v>4909</c:v>
                </c:pt>
                <c:pt idx="25">
                  <c:v>5242</c:v>
                </c:pt>
                <c:pt idx="26">
                  <c:v>5625</c:v>
                </c:pt>
                <c:pt idx="27">
                  <c:v>5980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6576</c:v>
                </c:pt>
                <c:pt idx="1">
                  <c:v>6598</c:v>
                </c:pt>
                <c:pt idx="2">
                  <c:v>6664</c:v>
                </c:pt>
                <c:pt idx="3">
                  <c:v>6771</c:v>
                </c:pt>
                <c:pt idx="4">
                  <c:v>6792</c:v>
                </c:pt>
                <c:pt idx="5">
                  <c:v>6721</c:v>
                </c:pt>
                <c:pt idx="6">
                  <c:v>6807</c:v>
                </c:pt>
                <c:pt idx="7">
                  <c:v>6613</c:v>
                </c:pt>
                <c:pt idx="8">
                  <c:v>6136</c:v>
                </c:pt>
                <c:pt idx="9">
                  <c:v>6307</c:v>
                </c:pt>
                <c:pt idx="10">
                  <c:v>6186</c:v>
                </c:pt>
                <c:pt idx="11">
                  <c:v>5962</c:v>
                </c:pt>
                <c:pt idx="12">
                  <c:v>6109</c:v>
                </c:pt>
                <c:pt idx="13">
                  <c:v>6181</c:v>
                </c:pt>
                <c:pt idx="14">
                  <c:v>6006</c:v>
                </c:pt>
                <c:pt idx="15">
                  <c:v>5852</c:v>
                </c:pt>
                <c:pt idx="16">
                  <c:v>5815</c:v>
                </c:pt>
                <c:pt idx="17">
                  <c:v>6005</c:v>
                </c:pt>
                <c:pt idx="18">
                  <c:v>5900</c:v>
                </c:pt>
                <c:pt idx="19">
                  <c:v>5310</c:v>
                </c:pt>
                <c:pt idx="20">
                  <c:v>5675</c:v>
                </c:pt>
                <c:pt idx="21">
                  <c:v>5728</c:v>
                </c:pt>
                <c:pt idx="22">
                  <c:v>5606</c:v>
                </c:pt>
                <c:pt idx="23">
                  <c:v>5594</c:v>
                </c:pt>
                <c:pt idx="24">
                  <c:v>5717</c:v>
                </c:pt>
                <c:pt idx="25">
                  <c:v>5632</c:v>
                </c:pt>
                <c:pt idx="26">
                  <c:v>5564</c:v>
                </c:pt>
                <c:pt idx="27">
                  <c:v>5497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5594</c:v>
                </c:pt>
                <c:pt idx="24">
                  <c:v>5701</c:v>
                </c:pt>
                <c:pt idx="25">
                  <c:v>5530</c:v>
                </c:pt>
                <c:pt idx="26">
                  <c:v>5425</c:v>
                </c:pt>
                <c:pt idx="27">
                  <c:v>5322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5594</c:v>
                </c:pt>
                <c:pt idx="24">
                  <c:v>5729</c:v>
                </c:pt>
                <c:pt idx="25">
                  <c:v>5706</c:v>
                </c:pt>
                <c:pt idx="26">
                  <c:v>5683</c:v>
                </c:pt>
                <c:pt idx="27">
                  <c:v>5660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3413</c:v>
                </c:pt>
                <c:pt idx="1">
                  <c:v>3265</c:v>
                </c:pt>
                <c:pt idx="2">
                  <c:v>3353</c:v>
                </c:pt>
                <c:pt idx="3">
                  <c:v>3601</c:v>
                </c:pt>
                <c:pt idx="4">
                  <c:v>4023</c:v>
                </c:pt>
                <c:pt idx="5">
                  <c:v>4373</c:v>
                </c:pt>
                <c:pt idx="6">
                  <c:v>4581</c:v>
                </c:pt>
                <c:pt idx="7">
                  <c:v>4510</c:v>
                </c:pt>
                <c:pt idx="8">
                  <c:v>4086</c:v>
                </c:pt>
                <c:pt idx="9">
                  <c:v>4330</c:v>
                </c:pt>
                <c:pt idx="10">
                  <c:v>4537</c:v>
                </c:pt>
                <c:pt idx="11">
                  <c:v>4731</c:v>
                </c:pt>
                <c:pt idx="12">
                  <c:v>5270</c:v>
                </c:pt>
                <c:pt idx="13">
                  <c:v>5511</c:v>
                </c:pt>
                <c:pt idx="14">
                  <c:v>5763</c:v>
                </c:pt>
                <c:pt idx="15">
                  <c:v>5825</c:v>
                </c:pt>
                <c:pt idx="16">
                  <c:v>5962</c:v>
                </c:pt>
                <c:pt idx="17">
                  <c:v>6200</c:v>
                </c:pt>
                <c:pt idx="18">
                  <c:v>6465</c:v>
                </c:pt>
                <c:pt idx="19">
                  <c:v>6543</c:v>
                </c:pt>
                <c:pt idx="20">
                  <c:v>7536</c:v>
                </c:pt>
                <c:pt idx="21">
                  <c:v>8618</c:v>
                </c:pt>
                <c:pt idx="22">
                  <c:v>8239</c:v>
                </c:pt>
                <c:pt idx="23">
                  <c:v>8754</c:v>
                </c:pt>
                <c:pt idx="24">
                  <c:v>9413</c:v>
                </c:pt>
                <c:pt idx="25">
                  <c:v>9693</c:v>
                </c:pt>
                <c:pt idx="26">
                  <c:v>10314</c:v>
                </c:pt>
                <c:pt idx="27">
                  <c:v>10716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1229</c:v>
                </c:pt>
                <c:pt idx="1">
                  <c:v>1264</c:v>
                </c:pt>
                <c:pt idx="2">
                  <c:v>1306</c:v>
                </c:pt>
                <c:pt idx="3">
                  <c:v>1379</c:v>
                </c:pt>
                <c:pt idx="4">
                  <c:v>1445</c:v>
                </c:pt>
                <c:pt idx="5">
                  <c:v>1550</c:v>
                </c:pt>
                <c:pt idx="6">
                  <c:v>1660</c:v>
                </c:pt>
                <c:pt idx="7">
                  <c:v>1768</c:v>
                </c:pt>
                <c:pt idx="8">
                  <c:v>1903</c:v>
                </c:pt>
                <c:pt idx="9">
                  <c:v>1974</c:v>
                </c:pt>
                <c:pt idx="10">
                  <c:v>2072</c:v>
                </c:pt>
                <c:pt idx="11">
                  <c:v>2245</c:v>
                </c:pt>
                <c:pt idx="12">
                  <c:v>2286</c:v>
                </c:pt>
                <c:pt idx="13">
                  <c:v>2449</c:v>
                </c:pt>
                <c:pt idx="14">
                  <c:v>2539</c:v>
                </c:pt>
                <c:pt idx="15">
                  <c:v>2664</c:v>
                </c:pt>
                <c:pt idx="16">
                  <c:v>2741</c:v>
                </c:pt>
                <c:pt idx="17">
                  <c:v>2923</c:v>
                </c:pt>
                <c:pt idx="18">
                  <c:v>2938</c:v>
                </c:pt>
                <c:pt idx="19">
                  <c:v>2742</c:v>
                </c:pt>
                <c:pt idx="20">
                  <c:v>3014</c:v>
                </c:pt>
                <c:pt idx="21">
                  <c:v>3185</c:v>
                </c:pt>
                <c:pt idx="22">
                  <c:v>3432</c:v>
                </c:pt>
                <c:pt idx="23">
                  <c:v>3571</c:v>
                </c:pt>
                <c:pt idx="24">
                  <c:v>3607</c:v>
                </c:pt>
                <c:pt idx="25">
                  <c:v>3643</c:v>
                </c:pt>
                <c:pt idx="26">
                  <c:v>3734</c:v>
                </c:pt>
                <c:pt idx="27">
                  <c:v>3827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3571</c:v>
                </c:pt>
                <c:pt idx="24">
                  <c:v>3596</c:v>
                </c:pt>
                <c:pt idx="25">
                  <c:v>3596</c:v>
                </c:pt>
                <c:pt idx="26">
                  <c:v>3632</c:v>
                </c:pt>
                <c:pt idx="27">
                  <c:v>3668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3571</c:v>
                </c:pt>
                <c:pt idx="24">
                  <c:v>3621</c:v>
                </c:pt>
                <c:pt idx="25">
                  <c:v>3712</c:v>
                </c:pt>
                <c:pt idx="26">
                  <c:v>3860</c:v>
                </c:pt>
                <c:pt idx="27">
                  <c:v>4014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84</c:v>
                </c:pt>
                <c:pt idx="1">
                  <c:v>93</c:v>
                </c:pt>
                <c:pt idx="2">
                  <c:v>113</c:v>
                </c:pt>
                <c:pt idx="3">
                  <c:v>136</c:v>
                </c:pt>
                <c:pt idx="4">
                  <c:v>159</c:v>
                </c:pt>
                <c:pt idx="5">
                  <c:v>193</c:v>
                </c:pt>
                <c:pt idx="6">
                  <c:v>272</c:v>
                </c:pt>
                <c:pt idx="7">
                  <c:v>241</c:v>
                </c:pt>
                <c:pt idx="8">
                  <c:v>253</c:v>
                </c:pt>
                <c:pt idx="9">
                  <c:v>322</c:v>
                </c:pt>
                <c:pt idx="10">
                  <c:v>352</c:v>
                </c:pt>
                <c:pt idx="11">
                  <c:v>362</c:v>
                </c:pt>
                <c:pt idx="12">
                  <c:v>364</c:v>
                </c:pt>
                <c:pt idx="13">
                  <c:v>391</c:v>
                </c:pt>
                <c:pt idx="14">
                  <c:v>418</c:v>
                </c:pt>
                <c:pt idx="15">
                  <c:v>462</c:v>
                </c:pt>
                <c:pt idx="16">
                  <c:v>530</c:v>
                </c:pt>
                <c:pt idx="17">
                  <c:v>539</c:v>
                </c:pt>
                <c:pt idx="18">
                  <c:v>543</c:v>
                </c:pt>
                <c:pt idx="19">
                  <c:v>486</c:v>
                </c:pt>
                <c:pt idx="20">
                  <c:v>647</c:v>
                </c:pt>
                <c:pt idx="21">
                  <c:v>674</c:v>
                </c:pt>
                <c:pt idx="22">
                  <c:v>747</c:v>
                </c:pt>
                <c:pt idx="23">
                  <c:v>805</c:v>
                </c:pt>
                <c:pt idx="24">
                  <c:v>816</c:v>
                </c:pt>
                <c:pt idx="25">
                  <c:v>852</c:v>
                </c:pt>
                <c:pt idx="26">
                  <c:v>956</c:v>
                </c:pt>
                <c:pt idx="27">
                  <c:v>1064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1784</c:v>
                </c:pt>
                <c:pt idx="1">
                  <c:v>1781</c:v>
                </c:pt>
                <c:pt idx="2">
                  <c:v>1823</c:v>
                </c:pt>
                <c:pt idx="3">
                  <c:v>1840</c:v>
                </c:pt>
                <c:pt idx="4">
                  <c:v>1870</c:v>
                </c:pt>
                <c:pt idx="5">
                  <c:v>1938</c:v>
                </c:pt>
                <c:pt idx="6">
                  <c:v>1948</c:v>
                </c:pt>
                <c:pt idx="7">
                  <c:v>1978</c:v>
                </c:pt>
                <c:pt idx="8">
                  <c:v>1867</c:v>
                </c:pt>
                <c:pt idx="9">
                  <c:v>1971</c:v>
                </c:pt>
                <c:pt idx="10">
                  <c:v>2033</c:v>
                </c:pt>
                <c:pt idx="11">
                  <c:v>2056</c:v>
                </c:pt>
                <c:pt idx="12">
                  <c:v>1996</c:v>
                </c:pt>
                <c:pt idx="13">
                  <c:v>1999</c:v>
                </c:pt>
                <c:pt idx="14">
                  <c:v>2006</c:v>
                </c:pt>
                <c:pt idx="15">
                  <c:v>2009</c:v>
                </c:pt>
                <c:pt idx="16">
                  <c:v>2055</c:v>
                </c:pt>
                <c:pt idx="17">
                  <c:v>2122</c:v>
                </c:pt>
                <c:pt idx="18">
                  <c:v>2134</c:v>
                </c:pt>
                <c:pt idx="19">
                  <c:v>2050</c:v>
                </c:pt>
                <c:pt idx="20">
                  <c:v>2117</c:v>
                </c:pt>
                <c:pt idx="21">
                  <c:v>2120</c:v>
                </c:pt>
                <c:pt idx="22">
                  <c:v>2182</c:v>
                </c:pt>
                <c:pt idx="23">
                  <c:v>2237</c:v>
                </c:pt>
                <c:pt idx="24">
                  <c:v>2261</c:v>
                </c:pt>
                <c:pt idx="25">
                  <c:v>2260</c:v>
                </c:pt>
                <c:pt idx="26">
                  <c:v>2284</c:v>
                </c:pt>
                <c:pt idx="27">
                  <c:v>2308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2237</c:v>
                </c:pt>
                <c:pt idx="24">
                  <c:v>2230</c:v>
                </c:pt>
                <c:pt idx="25">
                  <c:v>2216</c:v>
                </c:pt>
                <c:pt idx="26">
                  <c:v>2230</c:v>
                </c:pt>
                <c:pt idx="27">
                  <c:v>2245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2237</c:v>
                </c:pt>
                <c:pt idx="24">
                  <c:v>2292</c:v>
                </c:pt>
                <c:pt idx="25">
                  <c:v>2304</c:v>
                </c:pt>
                <c:pt idx="26">
                  <c:v>2339</c:v>
                </c:pt>
                <c:pt idx="27">
                  <c:v>2373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113</c:v>
                </c:pt>
                <c:pt idx="1">
                  <c:v>128</c:v>
                </c:pt>
                <c:pt idx="2">
                  <c:v>157</c:v>
                </c:pt>
                <c:pt idx="3">
                  <c:v>217</c:v>
                </c:pt>
                <c:pt idx="4">
                  <c:v>303</c:v>
                </c:pt>
                <c:pt idx="5">
                  <c:v>391</c:v>
                </c:pt>
                <c:pt idx="6">
                  <c:v>523</c:v>
                </c:pt>
                <c:pt idx="7">
                  <c:v>650</c:v>
                </c:pt>
                <c:pt idx="8">
                  <c:v>428</c:v>
                </c:pt>
                <c:pt idx="9">
                  <c:v>528</c:v>
                </c:pt>
                <c:pt idx="10">
                  <c:v>710</c:v>
                </c:pt>
                <c:pt idx="11">
                  <c:v>754</c:v>
                </c:pt>
                <c:pt idx="12">
                  <c:v>766</c:v>
                </c:pt>
                <c:pt idx="13">
                  <c:v>694</c:v>
                </c:pt>
                <c:pt idx="14">
                  <c:v>433</c:v>
                </c:pt>
                <c:pt idx="15">
                  <c:v>422</c:v>
                </c:pt>
                <c:pt idx="16">
                  <c:v>526</c:v>
                </c:pt>
                <c:pt idx="17">
                  <c:v>588</c:v>
                </c:pt>
                <c:pt idx="18">
                  <c:v>605</c:v>
                </c:pt>
                <c:pt idx="19">
                  <c:v>523</c:v>
                </c:pt>
                <c:pt idx="20">
                  <c:v>653</c:v>
                </c:pt>
                <c:pt idx="21">
                  <c:v>776</c:v>
                </c:pt>
                <c:pt idx="22">
                  <c:v>690</c:v>
                </c:pt>
                <c:pt idx="23">
                  <c:v>766</c:v>
                </c:pt>
                <c:pt idx="24">
                  <c:v>907</c:v>
                </c:pt>
                <c:pt idx="25">
                  <c:v>1032</c:v>
                </c:pt>
                <c:pt idx="26">
                  <c:v>953</c:v>
                </c:pt>
                <c:pt idx="27">
                  <c:v>925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438</c:v>
                </c:pt>
                <c:pt idx="1">
                  <c:v>428</c:v>
                </c:pt>
                <c:pt idx="2">
                  <c:v>461</c:v>
                </c:pt>
                <c:pt idx="3">
                  <c:v>467</c:v>
                </c:pt>
                <c:pt idx="4">
                  <c:v>476</c:v>
                </c:pt>
                <c:pt idx="5">
                  <c:v>487</c:v>
                </c:pt>
                <c:pt idx="6">
                  <c:v>530</c:v>
                </c:pt>
                <c:pt idx="7">
                  <c:v>512</c:v>
                </c:pt>
                <c:pt idx="8">
                  <c:v>557</c:v>
                </c:pt>
                <c:pt idx="9">
                  <c:v>607</c:v>
                </c:pt>
                <c:pt idx="10">
                  <c:v>704</c:v>
                </c:pt>
                <c:pt idx="11">
                  <c:v>731</c:v>
                </c:pt>
                <c:pt idx="12">
                  <c:v>711</c:v>
                </c:pt>
                <c:pt idx="13">
                  <c:v>722</c:v>
                </c:pt>
                <c:pt idx="14">
                  <c:v>765</c:v>
                </c:pt>
                <c:pt idx="15">
                  <c:v>767</c:v>
                </c:pt>
                <c:pt idx="16">
                  <c:v>806</c:v>
                </c:pt>
                <c:pt idx="17">
                  <c:v>874</c:v>
                </c:pt>
                <c:pt idx="18">
                  <c:v>949</c:v>
                </c:pt>
                <c:pt idx="19">
                  <c:v>891</c:v>
                </c:pt>
                <c:pt idx="20">
                  <c:v>902</c:v>
                </c:pt>
                <c:pt idx="21">
                  <c:v>1061</c:v>
                </c:pt>
                <c:pt idx="22">
                  <c:v>1094</c:v>
                </c:pt>
                <c:pt idx="23">
                  <c:v>1142</c:v>
                </c:pt>
                <c:pt idx="24">
                  <c:v>1198</c:v>
                </c:pt>
                <c:pt idx="25">
                  <c:v>1244</c:v>
                </c:pt>
                <c:pt idx="26">
                  <c:v>1305</c:v>
                </c:pt>
                <c:pt idx="27">
                  <c:v>1369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1142</c:v>
                </c:pt>
                <c:pt idx="24">
                  <c:v>1160</c:v>
                </c:pt>
                <c:pt idx="25">
                  <c:v>1188</c:v>
                </c:pt>
                <c:pt idx="26">
                  <c:v>1233</c:v>
                </c:pt>
                <c:pt idx="27">
                  <c:v>1282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1142</c:v>
                </c:pt>
                <c:pt idx="24">
                  <c:v>1237</c:v>
                </c:pt>
                <c:pt idx="25">
                  <c:v>1301</c:v>
                </c:pt>
                <c:pt idx="26">
                  <c:v>1379</c:v>
                </c:pt>
                <c:pt idx="27">
                  <c:v>1459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31</c:v>
                </c:pt>
                <c:pt idx="1">
                  <c:v>35</c:v>
                </c:pt>
                <c:pt idx="2">
                  <c:v>44</c:v>
                </c:pt>
                <c:pt idx="3">
                  <c:v>49</c:v>
                </c:pt>
                <c:pt idx="4">
                  <c:v>56</c:v>
                </c:pt>
                <c:pt idx="5">
                  <c:v>75</c:v>
                </c:pt>
                <c:pt idx="6">
                  <c:v>84</c:v>
                </c:pt>
                <c:pt idx="7">
                  <c:v>109</c:v>
                </c:pt>
                <c:pt idx="8">
                  <c:v>89</c:v>
                </c:pt>
                <c:pt idx="9">
                  <c:v>118</c:v>
                </c:pt>
                <c:pt idx="10">
                  <c:v>152</c:v>
                </c:pt>
                <c:pt idx="11">
                  <c:v>158</c:v>
                </c:pt>
                <c:pt idx="12">
                  <c:v>154</c:v>
                </c:pt>
                <c:pt idx="13">
                  <c:v>148</c:v>
                </c:pt>
                <c:pt idx="14">
                  <c:v>128</c:v>
                </c:pt>
                <c:pt idx="15">
                  <c:v>134</c:v>
                </c:pt>
                <c:pt idx="16">
                  <c:v>144</c:v>
                </c:pt>
                <c:pt idx="17">
                  <c:v>156</c:v>
                </c:pt>
                <c:pt idx="18">
                  <c:v>160</c:v>
                </c:pt>
                <c:pt idx="19">
                  <c:v>131</c:v>
                </c:pt>
                <c:pt idx="20">
                  <c:v>163</c:v>
                </c:pt>
                <c:pt idx="21">
                  <c:v>197</c:v>
                </c:pt>
                <c:pt idx="22">
                  <c:v>206</c:v>
                </c:pt>
                <c:pt idx="23">
                  <c:v>204</c:v>
                </c:pt>
                <c:pt idx="24">
                  <c:v>192</c:v>
                </c:pt>
                <c:pt idx="25">
                  <c:v>207</c:v>
                </c:pt>
                <c:pt idx="26">
                  <c:v>223</c:v>
                </c:pt>
                <c:pt idx="27">
                  <c:v>245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1289</c:v>
                </c:pt>
                <c:pt idx="1">
                  <c:v>1317</c:v>
                </c:pt>
                <c:pt idx="2">
                  <c:v>1325</c:v>
                </c:pt>
                <c:pt idx="3">
                  <c:v>1319</c:v>
                </c:pt>
                <c:pt idx="4">
                  <c:v>1325</c:v>
                </c:pt>
                <c:pt idx="5">
                  <c:v>1301</c:v>
                </c:pt>
                <c:pt idx="6">
                  <c:v>1337</c:v>
                </c:pt>
                <c:pt idx="7">
                  <c:v>1263</c:v>
                </c:pt>
                <c:pt idx="8">
                  <c:v>1193</c:v>
                </c:pt>
                <c:pt idx="9">
                  <c:v>1244</c:v>
                </c:pt>
                <c:pt idx="10">
                  <c:v>1293</c:v>
                </c:pt>
                <c:pt idx="11">
                  <c:v>1333</c:v>
                </c:pt>
                <c:pt idx="12">
                  <c:v>1343</c:v>
                </c:pt>
                <c:pt idx="13">
                  <c:v>1290</c:v>
                </c:pt>
                <c:pt idx="14">
                  <c:v>1249</c:v>
                </c:pt>
                <c:pt idx="15">
                  <c:v>1228</c:v>
                </c:pt>
                <c:pt idx="16">
                  <c:v>1213</c:v>
                </c:pt>
                <c:pt idx="17">
                  <c:v>1166</c:v>
                </c:pt>
                <c:pt idx="18">
                  <c:v>1129</c:v>
                </c:pt>
                <c:pt idx="19">
                  <c:v>1063</c:v>
                </c:pt>
                <c:pt idx="20">
                  <c:v>1085</c:v>
                </c:pt>
                <c:pt idx="21">
                  <c:v>1055</c:v>
                </c:pt>
                <c:pt idx="22">
                  <c:v>1012</c:v>
                </c:pt>
                <c:pt idx="23">
                  <c:v>986</c:v>
                </c:pt>
                <c:pt idx="24">
                  <c:v>965</c:v>
                </c:pt>
                <c:pt idx="25">
                  <c:v>928</c:v>
                </c:pt>
                <c:pt idx="26">
                  <c:v>904</c:v>
                </c:pt>
                <c:pt idx="27">
                  <c:v>879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986</c:v>
                </c:pt>
                <c:pt idx="24">
                  <c:v>946</c:v>
                </c:pt>
                <c:pt idx="25">
                  <c:v>904</c:v>
                </c:pt>
                <c:pt idx="26">
                  <c:v>875</c:v>
                </c:pt>
                <c:pt idx="27">
                  <c:v>848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986</c:v>
                </c:pt>
                <c:pt idx="24">
                  <c:v>986</c:v>
                </c:pt>
                <c:pt idx="25">
                  <c:v>956</c:v>
                </c:pt>
                <c:pt idx="26">
                  <c:v>936</c:v>
                </c:pt>
                <c:pt idx="27">
                  <c:v>915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1269</c:v>
                </c:pt>
                <c:pt idx="1">
                  <c:v>1174</c:v>
                </c:pt>
                <c:pt idx="2">
                  <c:v>1248</c:v>
                </c:pt>
                <c:pt idx="3">
                  <c:v>1388</c:v>
                </c:pt>
                <c:pt idx="4">
                  <c:v>1405</c:v>
                </c:pt>
                <c:pt idx="5">
                  <c:v>1382</c:v>
                </c:pt>
                <c:pt idx="6">
                  <c:v>1385</c:v>
                </c:pt>
                <c:pt idx="7">
                  <c:v>1532</c:v>
                </c:pt>
                <c:pt idx="8">
                  <c:v>1532</c:v>
                </c:pt>
                <c:pt idx="9">
                  <c:v>1650</c:v>
                </c:pt>
                <c:pt idx="10">
                  <c:v>1847</c:v>
                </c:pt>
                <c:pt idx="11">
                  <c:v>1909</c:v>
                </c:pt>
                <c:pt idx="12">
                  <c:v>1623</c:v>
                </c:pt>
                <c:pt idx="13">
                  <c:v>1605</c:v>
                </c:pt>
                <c:pt idx="14">
                  <c:v>1494</c:v>
                </c:pt>
                <c:pt idx="15">
                  <c:v>1682</c:v>
                </c:pt>
                <c:pt idx="16">
                  <c:v>1655</c:v>
                </c:pt>
                <c:pt idx="17">
                  <c:v>1727</c:v>
                </c:pt>
                <c:pt idx="18">
                  <c:v>1751</c:v>
                </c:pt>
                <c:pt idx="19">
                  <c:v>1792</c:v>
                </c:pt>
                <c:pt idx="20">
                  <c:v>1830</c:v>
                </c:pt>
                <c:pt idx="21">
                  <c:v>1600</c:v>
                </c:pt>
                <c:pt idx="22">
                  <c:v>1551</c:v>
                </c:pt>
                <c:pt idx="23">
                  <c:v>1494</c:v>
                </c:pt>
                <c:pt idx="24">
                  <c:v>1615</c:v>
                </c:pt>
                <c:pt idx="25">
                  <c:v>1563</c:v>
                </c:pt>
                <c:pt idx="26">
                  <c:v>1608</c:v>
                </c:pt>
                <c:pt idx="27">
                  <c:v>1670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494</c:v>
                </c:pt>
                <c:pt idx="1">
                  <c:v>502</c:v>
                </c:pt>
                <c:pt idx="2">
                  <c:v>540</c:v>
                </c:pt>
                <c:pt idx="3">
                  <c:v>567</c:v>
                </c:pt>
                <c:pt idx="4">
                  <c:v>600</c:v>
                </c:pt>
                <c:pt idx="5">
                  <c:v>641</c:v>
                </c:pt>
                <c:pt idx="6">
                  <c:v>640</c:v>
                </c:pt>
                <c:pt idx="7">
                  <c:v>662</c:v>
                </c:pt>
                <c:pt idx="8">
                  <c:v>679</c:v>
                </c:pt>
                <c:pt idx="9">
                  <c:v>703</c:v>
                </c:pt>
                <c:pt idx="10">
                  <c:v>719</c:v>
                </c:pt>
                <c:pt idx="11">
                  <c:v>724</c:v>
                </c:pt>
                <c:pt idx="12">
                  <c:v>736</c:v>
                </c:pt>
                <c:pt idx="13">
                  <c:v>774</c:v>
                </c:pt>
                <c:pt idx="14">
                  <c:v>772</c:v>
                </c:pt>
                <c:pt idx="15">
                  <c:v>803</c:v>
                </c:pt>
                <c:pt idx="16">
                  <c:v>861</c:v>
                </c:pt>
                <c:pt idx="17">
                  <c:v>822</c:v>
                </c:pt>
                <c:pt idx="18">
                  <c:v>858</c:v>
                </c:pt>
                <c:pt idx="19">
                  <c:v>871</c:v>
                </c:pt>
                <c:pt idx="20">
                  <c:v>918</c:v>
                </c:pt>
                <c:pt idx="21">
                  <c:v>911</c:v>
                </c:pt>
                <c:pt idx="22">
                  <c:v>949</c:v>
                </c:pt>
                <c:pt idx="23">
                  <c:v>955</c:v>
                </c:pt>
                <c:pt idx="24">
                  <c:v>977</c:v>
                </c:pt>
                <c:pt idx="25">
                  <c:v>918</c:v>
                </c:pt>
                <c:pt idx="26">
                  <c:v>939</c:v>
                </c:pt>
                <c:pt idx="27">
                  <c:v>960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955</c:v>
                </c:pt>
                <c:pt idx="24">
                  <c:v>942</c:v>
                </c:pt>
                <c:pt idx="25">
                  <c:v>801</c:v>
                </c:pt>
                <c:pt idx="26">
                  <c:v>789</c:v>
                </c:pt>
                <c:pt idx="27">
                  <c:v>778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955</c:v>
                </c:pt>
                <c:pt idx="24">
                  <c:v>1011</c:v>
                </c:pt>
                <c:pt idx="25">
                  <c:v>1011</c:v>
                </c:pt>
                <c:pt idx="26">
                  <c:v>1071</c:v>
                </c:pt>
                <c:pt idx="27">
                  <c:v>1134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55</c:v>
                </c:pt>
                <c:pt idx="1">
                  <c:v>21</c:v>
                </c:pt>
                <c:pt idx="2">
                  <c:v>25</c:v>
                </c:pt>
                <c:pt idx="3">
                  <c:v>29</c:v>
                </c:pt>
                <c:pt idx="4">
                  <c:v>43</c:v>
                </c:pt>
                <c:pt idx="5">
                  <c:v>45</c:v>
                </c:pt>
                <c:pt idx="6">
                  <c:v>51</c:v>
                </c:pt>
                <c:pt idx="7">
                  <c:v>62</c:v>
                </c:pt>
                <c:pt idx="8">
                  <c:v>63</c:v>
                </c:pt>
                <c:pt idx="9">
                  <c:v>79</c:v>
                </c:pt>
                <c:pt idx="10">
                  <c:v>101</c:v>
                </c:pt>
                <c:pt idx="11">
                  <c:v>53</c:v>
                </c:pt>
                <c:pt idx="12">
                  <c:v>53</c:v>
                </c:pt>
                <c:pt idx="13">
                  <c:v>60</c:v>
                </c:pt>
                <c:pt idx="14">
                  <c:v>61</c:v>
                </c:pt>
                <c:pt idx="15">
                  <c:v>70</c:v>
                </c:pt>
                <c:pt idx="16">
                  <c:v>76</c:v>
                </c:pt>
                <c:pt idx="17">
                  <c:v>45</c:v>
                </c:pt>
                <c:pt idx="18">
                  <c:v>23</c:v>
                </c:pt>
                <c:pt idx="19">
                  <c:v>15</c:v>
                </c:pt>
                <c:pt idx="20">
                  <c:v>32</c:v>
                </c:pt>
                <c:pt idx="21">
                  <c:v>41</c:v>
                </c:pt>
                <c:pt idx="22">
                  <c:v>41</c:v>
                </c:pt>
                <c:pt idx="23">
                  <c:v>55</c:v>
                </c:pt>
                <c:pt idx="24">
                  <c:v>34</c:v>
                </c:pt>
                <c:pt idx="25">
                  <c:v>27</c:v>
                </c:pt>
                <c:pt idx="26">
                  <c:v>32</c:v>
                </c:pt>
                <c:pt idx="27">
                  <c:v>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397</c:v>
                </c:pt>
                <c:pt idx="1">
                  <c:v>417</c:v>
                </c:pt>
                <c:pt idx="2">
                  <c:v>432</c:v>
                </c:pt>
                <c:pt idx="3">
                  <c:v>489</c:v>
                </c:pt>
                <c:pt idx="4">
                  <c:v>499</c:v>
                </c:pt>
                <c:pt idx="5">
                  <c:v>534</c:v>
                </c:pt>
                <c:pt idx="6">
                  <c:v>512</c:v>
                </c:pt>
                <c:pt idx="7">
                  <c:v>562</c:v>
                </c:pt>
                <c:pt idx="8">
                  <c:v>593</c:v>
                </c:pt>
                <c:pt idx="9">
                  <c:v>646</c:v>
                </c:pt>
                <c:pt idx="10">
                  <c:v>638</c:v>
                </c:pt>
                <c:pt idx="11">
                  <c:v>708</c:v>
                </c:pt>
                <c:pt idx="12">
                  <c:v>686</c:v>
                </c:pt>
                <c:pt idx="13">
                  <c:v>690</c:v>
                </c:pt>
                <c:pt idx="14">
                  <c:v>733</c:v>
                </c:pt>
                <c:pt idx="15">
                  <c:v>752</c:v>
                </c:pt>
                <c:pt idx="16">
                  <c:v>754</c:v>
                </c:pt>
                <c:pt idx="17">
                  <c:v>764</c:v>
                </c:pt>
                <c:pt idx="18">
                  <c:v>818</c:v>
                </c:pt>
                <c:pt idx="19">
                  <c:v>760</c:v>
                </c:pt>
                <c:pt idx="20">
                  <c:v>802</c:v>
                </c:pt>
                <c:pt idx="21">
                  <c:v>783</c:v>
                </c:pt>
                <c:pt idx="22">
                  <c:v>789</c:v>
                </c:pt>
                <c:pt idx="23">
                  <c:v>806</c:v>
                </c:pt>
                <c:pt idx="24">
                  <c:v>813</c:v>
                </c:pt>
                <c:pt idx="25">
                  <c:v>811</c:v>
                </c:pt>
                <c:pt idx="26">
                  <c:v>818</c:v>
                </c:pt>
                <c:pt idx="27">
                  <c:v>826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806</c:v>
                </c:pt>
                <c:pt idx="24">
                  <c:v>789</c:v>
                </c:pt>
                <c:pt idx="25">
                  <c:v>777</c:v>
                </c:pt>
                <c:pt idx="26">
                  <c:v>776</c:v>
                </c:pt>
                <c:pt idx="27">
                  <c:v>776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806</c:v>
                </c:pt>
                <c:pt idx="24">
                  <c:v>838</c:v>
                </c:pt>
                <c:pt idx="25">
                  <c:v>847</c:v>
                </c:pt>
                <c:pt idx="26">
                  <c:v>863</c:v>
                </c:pt>
                <c:pt idx="27">
                  <c:v>877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61</c:v>
                </c:pt>
                <c:pt idx="1">
                  <c:v>57</c:v>
                </c:pt>
                <c:pt idx="2">
                  <c:v>74</c:v>
                </c:pt>
                <c:pt idx="3">
                  <c:v>106</c:v>
                </c:pt>
                <c:pt idx="4">
                  <c:v>151</c:v>
                </c:pt>
                <c:pt idx="5">
                  <c:v>181</c:v>
                </c:pt>
                <c:pt idx="6">
                  <c:v>171</c:v>
                </c:pt>
                <c:pt idx="7">
                  <c:v>294</c:v>
                </c:pt>
                <c:pt idx="8">
                  <c:v>136</c:v>
                </c:pt>
                <c:pt idx="9">
                  <c:v>198</c:v>
                </c:pt>
                <c:pt idx="10">
                  <c:v>298</c:v>
                </c:pt>
                <c:pt idx="11">
                  <c:v>332</c:v>
                </c:pt>
                <c:pt idx="12">
                  <c:v>307</c:v>
                </c:pt>
                <c:pt idx="13">
                  <c:v>277</c:v>
                </c:pt>
                <c:pt idx="14">
                  <c:v>163</c:v>
                </c:pt>
                <c:pt idx="15">
                  <c:v>139</c:v>
                </c:pt>
                <c:pt idx="16">
                  <c:v>166</c:v>
                </c:pt>
                <c:pt idx="17">
                  <c:v>242</c:v>
                </c:pt>
                <c:pt idx="18">
                  <c:v>247</c:v>
                </c:pt>
                <c:pt idx="19">
                  <c:v>208</c:v>
                </c:pt>
                <c:pt idx="20">
                  <c:v>258</c:v>
                </c:pt>
                <c:pt idx="21">
                  <c:v>341</c:v>
                </c:pt>
                <c:pt idx="22">
                  <c:v>323</c:v>
                </c:pt>
                <c:pt idx="23">
                  <c:v>336</c:v>
                </c:pt>
                <c:pt idx="24">
                  <c:v>296</c:v>
                </c:pt>
                <c:pt idx="25">
                  <c:v>293</c:v>
                </c:pt>
                <c:pt idx="26">
                  <c:v>336</c:v>
                </c:pt>
                <c:pt idx="27">
                  <c:v>345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491</c:v>
                </c:pt>
                <c:pt idx="1">
                  <c:v>494</c:v>
                </c:pt>
                <c:pt idx="2">
                  <c:v>498</c:v>
                </c:pt>
                <c:pt idx="3">
                  <c:v>523</c:v>
                </c:pt>
                <c:pt idx="4">
                  <c:v>523</c:v>
                </c:pt>
                <c:pt idx="5">
                  <c:v>529</c:v>
                </c:pt>
                <c:pt idx="6">
                  <c:v>553</c:v>
                </c:pt>
                <c:pt idx="7">
                  <c:v>573</c:v>
                </c:pt>
                <c:pt idx="8">
                  <c:v>545</c:v>
                </c:pt>
                <c:pt idx="9">
                  <c:v>604</c:v>
                </c:pt>
                <c:pt idx="10">
                  <c:v>623</c:v>
                </c:pt>
                <c:pt idx="11">
                  <c:v>661</c:v>
                </c:pt>
                <c:pt idx="12">
                  <c:v>698</c:v>
                </c:pt>
                <c:pt idx="13">
                  <c:v>727</c:v>
                </c:pt>
                <c:pt idx="14">
                  <c:v>702</c:v>
                </c:pt>
                <c:pt idx="15">
                  <c:v>666</c:v>
                </c:pt>
                <c:pt idx="16">
                  <c:v>675</c:v>
                </c:pt>
                <c:pt idx="17">
                  <c:v>658</c:v>
                </c:pt>
                <c:pt idx="18">
                  <c:v>661</c:v>
                </c:pt>
                <c:pt idx="19">
                  <c:v>635</c:v>
                </c:pt>
                <c:pt idx="20">
                  <c:v>684</c:v>
                </c:pt>
                <c:pt idx="21">
                  <c:v>674</c:v>
                </c:pt>
                <c:pt idx="22">
                  <c:v>680</c:v>
                </c:pt>
                <c:pt idx="23">
                  <c:v>681</c:v>
                </c:pt>
                <c:pt idx="24">
                  <c:v>681</c:v>
                </c:pt>
                <c:pt idx="25">
                  <c:v>673</c:v>
                </c:pt>
                <c:pt idx="26">
                  <c:v>673</c:v>
                </c:pt>
                <c:pt idx="27">
                  <c:v>673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681</c:v>
                </c:pt>
                <c:pt idx="24">
                  <c:v>665</c:v>
                </c:pt>
                <c:pt idx="25">
                  <c:v>651</c:v>
                </c:pt>
                <c:pt idx="26">
                  <c:v>646</c:v>
                </c:pt>
                <c:pt idx="27">
                  <c:v>641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681</c:v>
                </c:pt>
                <c:pt idx="24">
                  <c:v>697</c:v>
                </c:pt>
                <c:pt idx="25">
                  <c:v>696</c:v>
                </c:pt>
                <c:pt idx="26">
                  <c:v>701</c:v>
                </c:pt>
                <c:pt idx="27">
                  <c:v>705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204</c:v>
                </c:pt>
                <c:pt idx="1">
                  <c:v>206</c:v>
                </c:pt>
                <c:pt idx="2">
                  <c:v>200</c:v>
                </c:pt>
                <c:pt idx="3">
                  <c:v>246</c:v>
                </c:pt>
                <c:pt idx="4">
                  <c:v>343</c:v>
                </c:pt>
                <c:pt idx="5">
                  <c:v>418</c:v>
                </c:pt>
                <c:pt idx="6">
                  <c:v>527</c:v>
                </c:pt>
                <c:pt idx="7">
                  <c:v>636</c:v>
                </c:pt>
                <c:pt idx="8">
                  <c:v>606</c:v>
                </c:pt>
                <c:pt idx="9">
                  <c:v>794</c:v>
                </c:pt>
                <c:pt idx="10">
                  <c:v>957</c:v>
                </c:pt>
                <c:pt idx="11">
                  <c:v>911</c:v>
                </c:pt>
                <c:pt idx="12">
                  <c:v>899</c:v>
                </c:pt>
                <c:pt idx="13">
                  <c:v>863</c:v>
                </c:pt>
                <c:pt idx="14">
                  <c:v>664</c:v>
                </c:pt>
                <c:pt idx="15">
                  <c:v>674</c:v>
                </c:pt>
                <c:pt idx="16">
                  <c:v>750</c:v>
                </c:pt>
                <c:pt idx="17">
                  <c:v>713</c:v>
                </c:pt>
                <c:pt idx="18">
                  <c:v>715</c:v>
                </c:pt>
                <c:pt idx="19">
                  <c:v>510</c:v>
                </c:pt>
                <c:pt idx="20">
                  <c:v>631</c:v>
                </c:pt>
                <c:pt idx="21">
                  <c:v>771</c:v>
                </c:pt>
                <c:pt idx="22">
                  <c:v>824</c:v>
                </c:pt>
                <c:pt idx="23">
                  <c:v>860</c:v>
                </c:pt>
                <c:pt idx="24">
                  <c:v>901</c:v>
                </c:pt>
                <c:pt idx="25">
                  <c:v>1076</c:v>
                </c:pt>
                <c:pt idx="26">
                  <c:v>1130</c:v>
                </c:pt>
                <c:pt idx="27">
                  <c:v>1175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662</c:v>
                </c:pt>
                <c:pt idx="1">
                  <c:v>669</c:v>
                </c:pt>
                <c:pt idx="2">
                  <c:v>686</c:v>
                </c:pt>
                <c:pt idx="3">
                  <c:v>682</c:v>
                </c:pt>
                <c:pt idx="4">
                  <c:v>675</c:v>
                </c:pt>
                <c:pt idx="5">
                  <c:v>674</c:v>
                </c:pt>
                <c:pt idx="6">
                  <c:v>698</c:v>
                </c:pt>
                <c:pt idx="7">
                  <c:v>679</c:v>
                </c:pt>
                <c:pt idx="8">
                  <c:v>640</c:v>
                </c:pt>
                <c:pt idx="9">
                  <c:v>654</c:v>
                </c:pt>
                <c:pt idx="10">
                  <c:v>665</c:v>
                </c:pt>
                <c:pt idx="11">
                  <c:v>666</c:v>
                </c:pt>
                <c:pt idx="12">
                  <c:v>673</c:v>
                </c:pt>
                <c:pt idx="13">
                  <c:v>675</c:v>
                </c:pt>
                <c:pt idx="14">
                  <c:v>673</c:v>
                </c:pt>
                <c:pt idx="15">
                  <c:v>659</c:v>
                </c:pt>
                <c:pt idx="16">
                  <c:v>674</c:v>
                </c:pt>
                <c:pt idx="17">
                  <c:v>684</c:v>
                </c:pt>
                <c:pt idx="18">
                  <c:v>687</c:v>
                </c:pt>
                <c:pt idx="19">
                  <c:v>617</c:v>
                </c:pt>
                <c:pt idx="20">
                  <c:v>634</c:v>
                </c:pt>
                <c:pt idx="21">
                  <c:v>647</c:v>
                </c:pt>
                <c:pt idx="22">
                  <c:v>649</c:v>
                </c:pt>
                <c:pt idx="23">
                  <c:v>632</c:v>
                </c:pt>
                <c:pt idx="24">
                  <c:v>630</c:v>
                </c:pt>
                <c:pt idx="25">
                  <c:v>621</c:v>
                </c:pt>
                <c:pt idx="26">
                  <c:v>619</c:v>
                </c:pt>
                <c:pt idx="27">
                  <c:v>617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632</c:v>
                </c:pt>
                <c:pt idx="24">
                  <c:v>613</c:v>
                </c:pt>
                <c:pt idx="25">
                  <c:v>596</c:v>
                </c:pt>
                <c:pt idx="26">
                  <c:v>588</c:v>
                </c:pt>
                <c:pt idx="27">
                  <c:v>581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632</c:v>
                </c:pt>
                <c:pt idx="24">
                  <c:v>648</c:v>
                </c:pt>
                <c:pt idx="25">
                  <c:v>647</c:v>
                </c:pt>
                <c:pt idx="26">
                  <c:v>652</c:v>
                </c:pt>
                <c:pt idx="27">
                  <c:v>656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308</c:v>
                </c:pt>
                <c:pt idx="1">
                  <c:v>305</c:v>
                </c:pt>
                <c:pt idx="2">
                  <c:v>360</c:v>
                </c:pt>
                <c:pt idx="3">
                  <c:v>410</c:v>
                </c:pt>
                <c:pt idx="4">
                  <c:v>470</c:v>
                </c:pt>
                <c:pt idx="5">
                  <c:v>534</c:v>
                </c:pt>
                <c:pt idx="6">
                  <c:v>593</c:v>
                </c:pt>
                <c:pt idx="7">
                  <c:v>605</c:v>
                </c:pt>
                <c:pt idx="8">
                  <c:v>544</c:v>
                </c:pt>
                <c:pt idx="9">
                  <c:v>620</c:v>
                </c:pt>
                <c:pt idx="10">
                  <c:v>686</c:v>
                </c:pt>
                <c:pt idx="11">
                  <c:v>702</c:v>
                </c:pt>
                <c:pt idx="12">
                  <c:v>710</c:v>
                </c:pt>
                <c:pt idx="13">
                  <c:v>696</c:v>
                </c:pt>
                <c:pt idx="14">
                  <c:v>622</c:v>
                </c:pt>
                <c:pt idx="15">
                  <c:v>616</c:v>
                </c:pt>
                <c:pt idx="16">
                  <c:v>665</c:v>
                </c:pt>
                <c:pt idx="17">
                  <c:v>708</c:v>
                </c:pt>
                <c:pt idx="18">
                  <c:v>708</c:v>
                </c:pt>
                <c:pt idx="19">
                  <c:v>686</c:v>
                </c:pt>
                <c:pt idx="20">
                  <c:v>858</c:v>
                </c:pt>
                <c:pt idx="21">
                  <c:v>903</c:v>
                </c:pt>
                <c:pt idx="22">
                  <c:v>915</c:v>
                </c:pt>
                <c:pt idx="23">
                  <c:v>959</c:v>
                </c:pt>
                <c:pt idx="24">
                  <c:v>982</c:v>
                </c:pt>
                <c:pt idx="25">
                  <c:v>1048</c:v>
                </c:pt>
                <c:pt idx="26">
                  <c:v>1100</c:v>
                </c:pt>
                <c:pt idx="27">
                  <c:v>1147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487</c:v>
                </c:pt>
                <c:pt idx="1">
                  <c:v>503</c:v>
                </c:pt>
                <c:pt idx="2">
                  <c:v>512</c:v>
                </c:pt>
                <c:pt idx="3">
                  <c:v>519</c:v>
                </c:pt>
                <c:pt idx="4">
                  <c:v>526</c:v>
                </c:pt>
                <c:pt idx="5">
                  <c:v>531</c:v>
                </c:pt>
                <c:pt idx="6">
                  <c:v>549</c:v>
                </c:pt>
                <c:pt idx="7">
                  <c:v>556</c:v>
                </c:pt>
                <c:pt idx="8">
                  <c:v>562</c:v>
                </c:pt>
                <c:pt idx="9">
                  <c:v>619</c:v>
                </c:pt>
                <c:pt idx="10">
                  <c:v>649</c:v>
                </c:pt>
                <c:pt idx="11">
                  <c:v>654</c:v>
                </c:pt>
                <c:pt idx="12">
                  <c:v>661</c:v>
                </c:pt>
                <c:pt idx="13">
                  <c:v>656</c:v>
                </c:pt>
                <c:pt idx="14">
                  <c:v>662</c:v>
                </c:pt>
                <c:pt idx="15">
                  <c:v>667</c:v>
                </c:pt>
                <c:pt idx="16">
                  <c:v>685</c:v>
                </c:pt>
                <c:pt idx="17">
                  <c:v>700</c:v>
                </c:pt>
                <c:pt idx="18">
                  <c:v>676</c:v>
                </c:pt>
                <c:pt idx="19">
                  <c:v>630</c:v>
                </c:pt>
                <c:pt idx="20">
                  <c:v>652</c:v>
                </c:pt>
                <c:pt idx="21">
                  <c:v>642</c:v>
                </c:pt>
                <c:pt idx="22">
                  <c:v>624</c:v>
                </c:pt>
                <c:pt idx="23">
                  <c:v>621</c:v>
                </c:pt>
                <c:pt idx="24">
                  <c:v>615</c:v>
                </c:pt>
                <c:pt idx="25">
                  <c:v>603</c:v>
                </c:pt>
                <c:pt idx="26">
                  <c:v>597</c:v>
                </c:pt>
                <c:pt idx="27">
                  <c:v>591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621</c:v>
                </c:pt>
                <c:pt idx="24">
                  <c:v>598</c:v>
                </c:pt>
                <c:pt idx="25">
                  <c:v>579</c:v>
                </c:pt>
                <c:pt idx="26">
                  <c:v>568</c:v>
                </c:pt>
                <c:pt idx="27">
                  <c:v>558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621</c:v>
                </c:pt>
                <c:pt idx="24">
                  <c:v>633</c:v>
                </c:pt>
                <c:pt idx="25">
                  <c:v>627</c:v>
                </c:pt>
                <c:pt idx="26">
                  <c:v>626</c:v>
                </c:pt>
                <c:pt idx="27">
                  <c:v>625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426</c:v>
                </c:pt>
                <c:pt idx="12">
                  <c:v>442</c:v>
                </c:pt>
                <c:pt idx="13">
                  <c:v>480</c:v>
                </c:pt>
                <c:pt idx="14">
                  <c:v>473</c:v>
                </c:pt>
                <c:pt idx="15">
                  <c:v>489</c:v>
                </c:pt>
                <c:pt idx="16">
                  <c:v>540</c:v>
                </c:pt>
                <c:pt idx="17">
                  <c:v>576</c:v>
                </c:pt>
                <c:pt idx="18">
                  <c:v>563</c:v>
                </c:pt>
                <c:pt idx="19">
                  <c:v>564</c:v>
                </c:pt>
                <c:pt idx="20">
                  <c:v>669</c:v>
                </c:pt>
                <c:pt idx="21">
                  <c:v>652</c:v>
                </c:pt>
                <c:pt idx="22">
                  <c:v>626</c:v>
                </c:pt>
                <c:pt idx="23">
                  <c:v>602</c:v>
                </c:pt>
                <c:pt idx="24">
                  <c:v>633</c:v>
                </c:pt>
                <c:pt idx="25">
                  <c:v>767</c:v>
                </c:pt>
                <c:pt idx="26">
                  <c:v>941</c:v>
                </c:pt>
                <c:pt idx="27">
                  <c:v>980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262</c:v>
                </c:pt>
                <c:pt idx="1">
                  <c:v>265</c:v>
                </c:pt>
                <c:pt idx="2">
                  <c:v>281</c:v>
                </c:pt>
                <c:pt idx="3">
                  <c:v>286</c:v>
                </c:pt>
                <c:pt idx="4">
                  <c:v>307</c:v>
                </c:pt>
                <c:pt idx="5">
                  <c:v>331</c:v>
                </c:pt>
                <c:pt idx="6">
                  <c:v>366</c:v>
                </c:pt>
                <c:pt idx="7">
                  <c:v>361</c:v>
                </c:pt>
                <c:pt idx="8">
                  <c:v>371</c:v>
                </c:pt>
                <c:pt idx="9">
                  <c:v>377</c:v>
                </c:pt>
                <c:pt idx="10">
                  <c:v>404</c:v>
                </c:pt>
                <c:pt idx="11">
                  <c:v>422</c:v>
                </c:pt>
                <c:pt idx="12">
                  <c:v>416</c:v>
                </c:pt>
                <c:pt idx="13">
                  <c:v>436</c:v>
                </c:pt>
                <c:pt idx="14">
                  <c:v>458</c:v>
                </c:pt>
                <c:pt idx="15">
                  <c:v>480</c:v>
                </c:pt>
                <c:pt idx="16">
                  <c:v>508</c:v>
                </c:pt>
                <c:pt idx="17">
                  <c:v>506</c:v>
                </c:pt>
                <c:pt idx="18">
                  <c:v>490</c:v>
                </c:pt>
                <c:pt idx="19">
                  <c:v>503</c:v>
                </c:pt>
                <c:pt idx="20">
                  <c:v>547</c:v>
                </c:pt>
                <c:pt idx="21">
                  <c:v>536</c:v>
                </c:pt>
                <c:pt idx="22">
                  <c:v>581</c:v>
                </c:pt>
                <c:pt idx="23">
                  <c:v>610</c:v>
                </c:pt>
                <c:pt idx="24">
                  <c:v>627</c:v>
                </c:pt>
                <c:pt idx="25">
                  <c:v>637</c:v>
                </c:pt>
                <c:pt idx="26">
                  <c:v>655</c:v>
                </c:pt>
                <c:pt idx="27">
                  <c:v>673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610</c:v>
                </c:pt>
                <c:pt idx="24">
                  <c:v>602</c:v>
                </c:pt>
                <c:pt idx="25">
                  <c:v>602</c:v>
                </c:pt>
                <c:pt idx="26">
                  <c:v>611</c:v>
                </c:pt>
                <c:pt idx="27">
                  <c:v>621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610</c:v>
                </c:pt>
                <c:pt idx="24">
                  <c:v>652</c:v>
                </c:pt>
                <c:pt idx="25">
                  <c:v>673</c:v>
                </c:pt>
                <c:pt idx="26">
                  <c:v>700</c:v>
                </c:pt>
                <c:pt idx="27">
                  <c:v>727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66</c:v>
                </c:pt>
                <c:pt idx="1">
                  <c:v>71</c:v>
                </c:pt>
                <c:pt idx="2">
                  <c:v>98</c:v>
                </c:pt>
                <c:pt idx="3">
                  <c:v>124</c:v>
                </c:pt>
                <c:pt idx="4">
                  <c:v>158</c:v>
                </c:pt>
                <c:pt idx="5">
                  <c:v>184</c:v>
                </c:pt>
                <c:pt idx="6">
                  <c:v>215</c:v>
                </c:pt>
                <c:pt idx="7">
                  <c:v>247</c:v>
                </c:pt>
                <c:pt idx="8">
                  <c:v>209</c:v>
                </c:pt>
                <c:pt idx="9">
                  <c:v>252</c:v>
                </c:pt>
                <c:pt idx="10">
                  <c:v>272</c:v>
                </c:pt>
                <c:pt idx="11">
                  <c:v>284</c:v>
                </c:pt>
                <c:pt idx="12">
                  <c:v>311</c:v>
                </c:pt>
                <c:pt idx="13">
                  <c:v>298</c:v>
                </c:pt>
                <c:pt idx="14">
                  <c:v>277</c:v>
                </c:pt>
                <c:pt idx="15">
                  <c:v>279</c:v>
                </c:pt>
                <c:pt idx="16">
                  <c:v>264</c:v>
                </c:pt>
                <c:pt idx="17">
                  <c:v>249</c:v>
                </c:pt>
                <c:pt idx="18">
                  <c:v>234</c:v>
                </c:pt>
                <c:pt idx="19">
                  <c:v>215</c:v>
                </c:pt>
                <c:pt idx="20">
                  <c:v>228</c:v>
                </c:pt>
                <c:pt idx="21">
                  <c:v>237</c:v>
                </c:pt>
                <c:pt idx="22">
                  <c:v>317</c:v>
                </c:pt>
                <c:pt idx="23">
                  <c:v>385</c:v>
                </c:pt>
                <c:pt idx="24">
                  <c:v>473</c:v>
                </c:pt>
                <c:pt idx="25">
                  <c:v>536</c:v>
                </c:pt>
                <c:pt idx="26">
                  <c:v>581</c:v>
                </c:pt>
                <c:pt idx="27">
                  <c:v>619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989</c:v>
                </c:pt>
                <c:pt idx="1">
                  <c:v>969</c:v>
                </c:pt>
                <c:pt idx="2">
                  <c:v>962</c:v>
                </c:pt>
                <c:pt idx="3">
                  <c:v>942</c:v>
                </c:pt>
                <c:pt idx="4">
                  <c:v>929</c:v>
                </c:pt>
                <c:pt idx="5">
                  <c:v>946</c:v>
                </c:pt>
                <c:pt idx="6">
                  <c:v>905</c:v>
                </c:pt>
                <c:pt idx="7">
                  <c:v>912</c:v>
                </c:pt>
                <c:pt idx="8">
                  <c:v>843</c:v>
                </c:pt>
                <c:pt idx="9">
                  <c:v>878</c:v>
                </c:pt>
                <c:pt idx="10">
                  <c:v>855</c:v>
                </c:pt>
                <c:pt idx="11">
                  <c:v>863</c:v>
                </c:pt>
                <c:pt idx="12">
                  <c:v>879</c:v>
                </c:pt>
                <c:pt idx="13">
                  <c:v>838</c:v>
                </c:pt>
                <c:pt idx="14">
                  <c:v>845</c:v>
                </c:pt>
                <c:pt idx="15">
                  <c:v>841</c:v>
                </c:pt>
                <c:pt idx="16">
                  <c:v>828</c:v>
                </c:pt>
                <c:pt idx="17">
                  <c:v>801</c:v>
                </c:pt>
                <c:pt idx="18">
                  <c:v>749</c:v>
                </c:pt>
                <c:pt idx="19">
                  <c:v>686</c:v>
                </c:pt>
                <c:pt idx="20">
                  <c:v>718</c:v>
                </c:pt>
                <c:pt idx="21">
                  <c:v>706</c:v>
                </c:pt>
                <c:pt idx="22">
                  <c:v>630</c:v>
                </c:pt>
                <c:pt idx="23">
                  <c:v>608</c:v>
                </c:pt>
                <c:pt idx="24">
                  <c:v>586</c:v>
                </c:pt>
                <c:pt idx="25">
                  <c:v>558</c:v>
                </c:pt>
                <c:pt idx="26">
                  <c:v>537</c:v>
                </c:pt>
                <c:pt idx="27">
                  <c:v>517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608</c:v>
                </c:pt>
                <c:pt idx="24">
                  <c:v>562</c:v>
                </c:pt>
                <c:pt idx="25">
                  <c:v>527</c:v>
                </c:pt>
                <c:pt idx="26">
                  <c:v>502</c:v>
                </c:pt>
                <c:pt idx="27">
                  <c:v>479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608</c:v>
                </c:pt>
                <c:pt idx="24">
                  <c:v>610</c:v>
                </c:pt>
                <c:pt idx="25">
                  <c:v>589</c:v>
                </c:pt>
                <c:pt idx="26">
                  <c:v>574</c:v>
                </c:pt>
                <c:pt idx="27">
                  <c:v>558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876</c:v>
                </c:pt>
                <c:pt idx="1">
                  <c:v>928</c:v>
                </c:pt>
                <c:pt idx="2">
                  <c:v>1132</c:v>
                </c:pt>
                <c:pt idx="3">
                  <c:v>1242</c:v>
                </c:pt>
                <c:pt idx="4">
                  <c:v>1259</c:v>
                </c:pt>
                <c:pt idx="5">
                  <c:v>1327</c:v>
                </c:pt>
                <c:pt idx="6">
                  <c:v>1523</c:v>
                </c:pt>
                <c:pt idx="7">
                  <c:v>1682</c:v>
                </c:pt>
                <c:pt idx="8">
                  <c:v>1568</c:v>
                </c:pt>
                <c:pt idx="9">
                  <c:v>1517</c:v>
                </c:pt>
                <c:pt idx="10">
                  <c:v>1699</c:v>
                </c:pt>
                <c:pt idx="11">
                  <c:v>1621</c:v>
                </c:pt>
                <c:pt idx="12">
                  <c:v>1724</c:v>
                </c:pt>
                <c:pt idx="13">
                  <c:v>1794</c:v>
                </c:pt>
                <c:pt idx="14">
                  <c:v>1555</c:v>
                </c:pt>
                <c:pt idx="15">
                  <c:v>1622</c:v>
                </c:pt>
                <c:pt idx="16">
                  <c:v>1727</c:v>
                </c:pt>
                <c:pt idx="17">
                  <c:v>1888</c:v>
                </c:pt>
                <c:pt idx="18">
                  <c:v>1856</c:v>
                </c:pt>
                <c:pt idx="19">
                  <c:v>1841</c:v>
                </c:pt>
                <c:pt idx="20">
                  <c:v>2070</c:v>
                </c:pt>
                <c:pt idx="21">
                  <c:v>1965</c:v>
                </c:pt>
                <c:pt idx="22">
                  <c:v>2093</c:v>
                </c:pt>
                <c:pt idx="23">
                  <c:v>2195</c:v>
                </c:pt>
                <c:pt idx="24">
                  <c:v>2415</c:v>
                </c:pt>
                <c:pt idx="25">
                  <c:v>2566</c:v>
                </c:pt>
                <c:pt idx="26">
                  <c:v>2661</c:v>
                </c:pt>
                <c:pt idx="27">
                  <c:v>2732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482</c:v>
                </c:pt>
                <c:pt idx="1">
                  <c:v>484</c:v>
                </c:pt>
                <c:pt idx="2">
                  <c:v>513</c:v>
                </c:pt>
                <c:pt idx="3">
                  <c:v>515</c:v>
                </c:pt>
                <c:pt idx="4">
                  <c:v>542</c:v>
                </c:pt>
                <c:pt idx="5">
                  <c:v>556</c:v>
                </c:pt>
                <c:pt idx="6">
                  <c:v>557</c:v>
                </c:pt>
                <c:pt idx="7">
                  <c:v>560</c:v>
                </c:pt>
                <c:pt idx="8">
                  <c:v>544</c:v>
                </c:pt>
                <c:pt idx="9">
                  <c:v>540</c:v>
                </c:pt>
                <c:pt idx="10">
                  <c:v>569</c:v>
                </c:pt>
                <c:pt idx="11">
                  <c:v>587</c:v>
                </c:pt>
                <c:pt idx="12">
                  <c:v>581</c:v>
                </c:pt>
                <c:pt idx="13">
                  <c:v>569</c:v>
                </c:pt>
                <c:pt idx="14">
                  <c:v>565</c:v>
                </c:pt>
                <c:pt idx="15">
                  <c:v>565</c:v>
                </c:pt>
                <c:pt idx="16">
                  <c:v>551</c:v>
                </c:pt>
                <c:pt idx="17">
                  <c:v>555</c:v>
                </c:pt>
                <c:pt idx="18">
                  <c:v>555</c:v>
                </c:pt>
                <c:pt idx="19">
                  <c:v>516</c:v>
                </c:pt>
                <c:pt idx="20">
                  <c:v>533</c:v>
                </c:pt>
                <c:pt idx="21">
                  <c:v>542</c:v>
                </c:pt>
                <c:pt idx="22">
                  <c:v>548</c:v>
                </c:pt>
                <c:pt idx="23">
                  <c:v>551</c:v>
                </c:pt>
                <c:pt idx="24">
                  <c:v>550</c:v>
                </c:pt>
                <c:pt idx="25">
                  <c:v>542</c:v>
                </c:pt>
                <c:pt idx="26">
                  <c:v>540</c:v>
                </c:pt>
                <c:pt idx="27">
                  <c:v>538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551</c:v>
                </c:pt>
                <c:pt idx="24">
                  <c:v>542</c:v>
                </c:pt>
                <c:pt idx="25">
                  <c:v>531</c:v>
                </c:pt>
                <c:pt idx="26">
                  <c:v>527</c:v>
                </c:pt>
                <c:pt idx="27">
                  <c:v>523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551</c:v>
                </c:pt>
                <c:pt idx="24">
                  <c:v>557</c:v>
                </c:pt>
                <c:pt idx="25">
                  <c:v>552</c:v>
                </c:pt>
                <c:pt idx="26">
                  <c:v>553</c:v>
                </c:pt>
                <c:pt idx="27">
                  <c:v>553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135</c:v>
                </c:pt>
                <c:pt idx="1">
                  <c:v>143</c:v>
                </c:pt>
                <c:pt idx="2">
                  <c:v>148</c:v>
                </c:pt>
                <c:pt idx="3">
                  <c:v>157</c:v>
                </c:pt>
                <c:pt idx="4">
                  <c:v>181</c:v>
                </c:pt>
                <c:pt idx="5">
                  <c:v>208</c:v>
                </c:pt>
                <c:pt idx="6">
                  <c:v>232</c:v>
                </c:pt>
                <c:pt idx="7">
                  <c:v>300</c:v>
                </c:pt>
                <c:pt idx="8">
                  <c:v>213</c:v>
                </c:pt>
                <c:pt idx="9">
                  <c:v>251</c:v>
                </c:pt>
                <c:pt idx="10">
                  <c:v>288</c:v>
                </c:pt>
                <c:pt idx="11">
                  <c:v>294</c:v>
                </c:pt>
                <c:pt idx="12">
                  <c:v>307</c:v>
                </c:pt>
                <c:pt idx="13">
                  <c:v>308</c:v>
                </c:pt>
                <c:pt idx="14">
                  <c:v>275</c:v>
                </c:pt>
                <c:pt idx="15">
                  <c:v>265</c:v>
                </c:pt>
                <c:pt idx="16">
                  <c:v>286</c:v>
                </c:pt>
                <c:pt idx="17">
                  <c:v>287</c:v>
                </c:pt>
                <c:pt idx="18">
                  <c:v>300</c:v>
                </c:pt>
                <c:pt idx="19">
                  <c:v>263</c:v>
                </c:pt>
                <c:pt idx="20">
                  <c:v>302</c:v>
                </c:pt>
                <c:pt idx="21">
                  <c:v>355</c:v>
                </c:pt>
                <c:pt idx="22">
                  <c:v>436</c:v>
                </c:pt>
                <c:pt idx="23">
                  <c:v>457</c:v>
                </c:pt>
                <c:pt idx="24">
                  <c:v>458</c:v>
                </c:pt>
                <c:pt idx="25">
                  <c:v>542</c:v>
                </c:pt>
                <c:pt idx="26">
                  <c:v>578</c:v>
                </c:pt>
                <c:pt idx="27">
                  <c:v>596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2"/>
          <c:h val="0.7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GHG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437</c:v>
                </c:pt>
                <c:pt idx="1">
                  <c:v>422</c:v>
                </c:pt>
                <c:pt idx="2">
                  <c:v>473</c:v>
                </c:pt>
                <c:pt idx="3">
                  <c:v>520</c:v>
                </c:pt>
                <c:pt idx="4">
                  <c:v>487</c:v>
                </c:pt>
                <c:pt idx="5">
                  <c:v>517</c:v>
                </c:pt>
                <c:pt idx="6">
                  <c:v>537</c:v>
                </c:pt>
                <c:pt idx="7">
                  <c:v>567</c:v>
                </c:pt>
                <c:pt idx="8">
                  <c:v>546</c:v>
                </c:pt>
                <c:pt idx="9">
                  <c:v>540</c:v>
                </c:pt>
                <c:pt idx="10">
                  <c:v>547</c:v>
                </c:pt>
                <c:pt idx="11">
                  <c:v>537</c:v>
                </c:pt>
                <c:pt idx="12">
                  <c:v>532</c:v>
                </c:pt>
                <c:pt idx="13">
                  <c:v>559</c:v>
                </c:pt>
                <c:pt idx="14">
                  <c:v>533</c:v>
                </c:pt>
                <c:pt idx="15">
                  <c:v>532</c:v>
                </c:pt>
                <c:pt idx="16">
                  <c:v>517</c:v>
                </c:pt>
                <c:pt idx="17">
                  <c:v>530</c:v>
                </c:pt>
                <c:pt idx="18">
                  <c:v>546</c:v>
                </c:pt>
                <c:pt idx="19">
                  <c:v>509</c:v>
                </c:pt>
                <c:pt idx="20">
                  <c:v>510</c:v>
                </c:pt>
                <c:pt idx="21">
                  <c:v>499</c:v>
                </c:pt>
                <c:pt idx="22">
                  <c:v>507</c:v>
                </c:pt>
                <c:pt idx="23">
                  <c:v>508</c:v>
                </c:pt>
                <c:pt idx="24">
                  <c:v>505</c:v>
                </c:pt>
                <c:pt idx="25">
                  <c:v>496</c:v>
                </c:pt>
                <c:pt idx="26">
                  <c:v>493</c:v>
                </c:pt>
                <c:pt idx="27">
                  <c:v>490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GHG low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508</c:v>
                </c:pt>
                <c:pt idx="24">
                  <c:v>485</c:v>
                </c:pt>
                <c:pt idx="25">
                  <c:v>469</c:v>
                </c:pt>
                <c:pt idx="26">
                  <c:v>460</c:v>
                </c:pt>
                <c:pt idx="27">
                  <c:v>453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GHG high</c:v>
                </c:pt>
              </c:strCache>
            </c:strRef>
          </c:tx>
          <c:spPr>
            <a:solidFill>
              <a:srgbClr val="D9661F"/>
            </a:solidFill>
            <a:ln w="9525" cap="flat">
              <a:solidFill>
                <a:srgbClr val="D9661F"/>
              </a:solidFill>
              <a:prstDash val="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508</c:v>
                </c:pt>
                <c:pt idx="24">
                  <c:v>525</c:v>
                </c:pt>
                <c:pt idx="25">
                  <c:v>524</c:v>
                </c:pt>
                <c:pt idx="26">
                  <c:v>527</c:v>
                </c:pt>
                <c:pt idx="27">
                  <c:v>529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29</c:v>
                </c:pt>
                <c:pt idx="1">
                  <c:v>28</c:v>
                </c:pt>
                <c:pt idx="2">
                  <c:v>41</c:v>
                </c:pt>
                <c:pt idx="3">
                  <c:v>56</c:v>
                </c:pt>
                <c:pt idx="4">
                  <c:v>72</c:v>
                </c:pt>
                <c:pt idx="5">
                  <c:v>78</c:v>
                </c:pt>
                <c:pt idx="6">
                  <c:v>85</c:v>
                </c:pt>
                <c:pt idx="7">
                  <c:v>81</c:v>
                </c:pt>
                <c:pt idx="8">
                  <c:v>79</c:v>
                </c:pt>
                <c:pt idx="9">
                  <c:v>99</c:v>
                </c:pt>
                <c:pt idx="10">
                  <c:v>112</c:v>
                </c:pt>
                <c:pt idx="11">
                  <c:v>107</c:v>
                </c:pt>
                <c:pt idx="12">
                  <c:v>100</c:v>
                </c:pt>
                <c:pt idx="13">
                  <c:v>97</c:v>
                </c:pt>
                <c:pt idx="14">
                  <c:v>89</c:v>
                </c:pt>
                <c:pt idx="15">
                  <c:v>85</c:v>
                </c:pt>
                <c:pt idx="16">
                  <c:v>99</c:v>
                </c:pt>
                <c:pt idx="17">
                  <c:v>107</c:v>
                </c:pt>
                <c:pt idx="18">
                  <c:v>103</c:v>
                </c:pt>
                <c:pt idx="19">
                  <c:v>85</c:v>
                </c:pt>
                <c:pt idx="20">
                  <c:v>114</c:v>
                </c:pt>
                <c:pt idx="21">
                  <c:v>113</c:v>
                </c:pt>
                <c:pt idx="22">
                  <c:v>103</c:v>
                </c:pt>
                <c:pt idx="23">
                  <c:v>110</c:v>
                </c:pt>
                <c:pt idx="24">
                  <c:v>122</c:v>
                </c:pt>
                <c:pt idx="25">
                  <c:v>141</c:v>
                </c:pt>
                <c:pt idx="26">
                  <c:v>149</c:v>
                </c:pt>
                <c:pt idx="27">
                  <c:v>155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661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F7D6B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World: t CO₂e per US$1M of revenue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2"/>
          <c:w val="0.84"/>
          <c:h val="0.72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 CO₂e per US$1M of government revenue</c:v>
                </c:pt>
              </c:strCache>
            </c:strRef>
          </c:tx>
          <c:spPr>
            <a:solidFill>
              <a:srgbClr val="D9661F"/>
            </a:solidFill>
            <a:ln w="25400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2623</c:v>
                </c:pt>
                <c:pt idx="1">
                  <c:v>2649</c:v>
                </c:pt>
                <c:pt idx="2">
                  <c:v>2461</c:v>
                </c:pt>
                <c:pt idx="3">
                  <c:v>2230</c:v>
                </c:pt>
                <c:pt idx="4">
                  <c:v>2083</c:v>
                </c:pt>
                <c:pt idx="5">
                  <c:v>1960</c:v>
                </c:pt>
                <c:pt idx="6">
                  <c:v>1780</c:v>
                </c:pt>
                <c:pt idx="7">
                  <c:v>1638</c:v>
                </c:pt>
                <c:pt idx="8">
                  <c:v>1795</c:v>
                </c:pt>
                <c:pt idx="9">
                  <c:v>1742</c:v>
                </c:pt>
                <c:pt idx="10">
                  <c:v>1587</c:v>
                </c:pt>
                <c:pt idx="11">
                  <c:v>1574</c:v>
                </c:pt>
                <c:pt idx="12">
                  <c:v>1520</c:v>
                </c:pt>
                <c:pt idx="13">
                  <c:v>1498</c:v>
                </c:pt>
                <c:pt idx="14">
                  <c:v>1611</c:v>
                </c:pt>
                <c:pt idx="15">
                  <c:v>1592</c:v>
                </c:pt>
                <c:pt idx="16">
                  <c:v>1526</c:v>
                </c:pt>
                <c:pt idx="17">
                  <c:v>1459</c:v>
                </c:pt>
                <c:pt idx="18">
                  <c:v>1470</c:v>
                </c:pt>
                <c:pt idx="19">
                  <c:v>1468</c:v>
                </c:pt>
                <c:pt idx="20">
                  <c:v>1314</c:v>
                </c:pt>
                <c:pt idx="21">
                  <c:v>1273</c:v>
                </c:pt>
                <c:pt idx="22">
                  <c:v>1268</c:v>
                </c:pt>
                <c:pt idx="23">
                  <c:v>1223</c:v>
                </c:pt>
                <c:pt idx="24">
                  <c:v>1150</c:v>
                </c:pt>
                <c:pt idx="25">
                  <c:v>1066</c:v>
                </c:pt>
                <c:pt idx="26">
                  <c:v>1015</c:v>
                </c:pt>
                <c:pt idx="27">
                  <c:v>978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DE5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1"/>
          <c:w val="0.86"/>
          <c:h val="0.7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(HadCRUT5)</c:v>
                </c:pt>
              </c:strCache>
            </c:strRef>
          </c:tx>
          <c:spPr>
            <a:solidFill>
              <a:srgbClr val="D9661F"/>
            </a:solidFill>
            <a:ln w="28575" cap="flat">
              <a:solidFill>
                <a:srgbClr val="D966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661F"/>
              </a:solidFill>
              <a:ln w="9525" cap="flat">
                <a:solidFill>
                  <a:srgbClr val="D966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0.85</c:v>
                </c:pt>
                <c:pt idx="1">
                  <c:v>0.9</c:v>
                </c:pt>
                <c:pt idx="2">
                  <c:v>0.9</c:v>
                </c:pt>
                <c:pt idx="3">
                  <c:v>0.83</c:v>
                </c:pt>
                <c:pt idx="4">
                  <c:v>0.97</c:v>
                </c:pt>
                <c:pt idx="5">
                  <c:v>0.93</c:v>
                </c:pt>
                <c:pt idx="6">
                  <c:v>0.95</c:v>
                </c:pt>
                <c:pt idx="7">
                  <c:v>0.82</c:v>
                </c:pt>
                <c:pt idx="8">
                  <c:v>0.95</c:v>
                </c:pt>
                <c:pt idx="9">
                  <c:v>1.04</c:v>
                </c:pt>
                <c:pt idx="10">
                  <c:v>0.9</c:v>
                </c:pt>
                <c:pt idx="11">
                  <c:v>0.94</c:v>
                </c:pt>
                <c:pt idx="12">
                  <c:v>0.98</c:v>
                </c:pt>
                <c:pt idx="13">
                  <c:v>1.03</c:v>
                </c:pt>
                <c:pt idx="14">
                  <c:v>1.18</c:v>
                </c:pt>
                <c:pt idx="15">
                  <c:v>1.29</c:v>
                </c:pt>
                <c:pt idx="16">
                  <c:v>1.2</c:v>
                </c:pt>
                <c:pt idx="17">
                  <c:v>1.12</c:v>
                </c:pt>
                <c:pt idx="18">
                  <c:v>1.25</c:v>
                </c:pt>
                <c:pt idx="19">
                  <c:v>1.28</c:v>
                </c:pt>
                <c:pt idx="20">
                  <c:v>1.13</c:v>
                </c:pt>
                <c:pt idx="21">
                  <c:v>1.17</c:v>
                </c:pt>
                <c:pt idx="22">
                  <c:v>1.47</c:v>
                </c:pt>
                <c:pt idx="23">
                  <c:v>1.53</c:v>
                </c:pt>
                <c:pt idx="24">
                  <c:v>1.41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WMO 2026–2030 range, low</c:v>
                </c:pt>
              </c:strCache>
            </c:strRef>
          </c:tx>
          <c:spPr>
            <a:solidFill>
              <a:srgbClr val="6B7F86"/>
            </a:solidFill>
            <a:ln w="15875" cap="flat">
              <a:solidFill>
                <a:srgbClr val="6B7F86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B7F86"/>
              </a:solidFill>
              <a:ln w="9525" cap="flat">
                <a:solidFill>
                  <a:srgbClr val="6B7F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1.3</c:v>
                </c:pt>
                <c:pt idx="26">
                  <c:v>1.3</c:v>
                </c:pt>
                <c:pt idx="27">
                  <c:v>1.3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WMO 2026–2030 range, high</c:v>
                </c:pt>
              </c:strCache>
            </c:strRef>
          </c:tx>
          <c:spPr>
            <a:solidFill>
              <a:srgbClr val="6B7F86"/>
            </a:solidFill>
            <a:ln w="15875" cap="flat">
              <a:solidFill>
                <a:srgbClr val="6B7F86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B7F86"/>
              </a:solidFill>
              <a:ln w="9525" cap="flat">
                <a:solidFill>
                  <a:srgbClr val="6B7F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1.9</c:v>
                </c:pt>
                <c:pt idx="26">
                  <c:v>1.9</c:v>
                </c:pt>
                <c:pt idx="27">
                  <c:v>1.9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2"/>
          <c:min val="0.5"/>
        </c:scaling>
        <c:delete val="0"/>
        <c:axPos val="l"/>
        <c:majorGridlines>
          <c:spPr>
            <a:ln w="6350" cap="flat">
              <a:solidFill>
                <a:srgbClr val="DDE5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1B2A2F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1B2A2F"/>
                    </a:solidFill>
                    <a:latin typeface="Arial"/>
                  </a:rPr>
                  <a:t>°C above 1861–1890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Weather-related disasters recorded in EM-DAT, per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Flood</c:v>
                </c:pt>
              </c:strCache>
            </c:strRef>
          </c:tx>
          <c:spPr>
            <a:solidFill>
              <a:srgbClr val="2F7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151</c:v>
                </c:pt>
                <c:pt idx="1">
                  <c:v>165</c:v>
                </c:pt>
                <c:pt idx="2">
                  <c:v>158</c:v>
                </c:pt>
                <c:pt idx="3">
                  <c:v>131</c:v>
                </c:pt>
                <c:pt idx="4">
                  <c:v>191</c:v>
                </c:pt>
                <c:pt idx="5">
                  <c:v>232</c:v>
                </c:pt>
                <c:pt idx="6">
                  <c:v>219</c:v>
                </c:pt>
                <c:pt idx="7">
                  <c:v>171</c:v>
                </c:pt>
                <c:pt idx="8">
                  <c:v>159</c:v>
                </c:pt>
                <c:pt idx="9">
                  <c:v>192</c:v>
                </c:pt>
                <c:pt idx="10">
                  <c:v>158</c:v>
                </c:pt>
                <c:pt idx="11">
                  <c:v>141</c:v>
                </c:pt>
                <c:pt idx="12">
                  <c:v>152</c:v>
                </c:pt>
                <c:pt idx="13">
                  <c:v>139</c:v>
                </c:pt>
                <c:pt idx="14">
                  <c:v>161</c:v>
                </c:pt>
                <c:pt idx="15">
                  <c:v>164</c:v>
                </c:pt>
                <c:pt idx="16">
                  <c:v>132</c:v>
                </c:pt>
                <c:pt idx="17">
                  <c:v>127</c:v>
                </c:pt>
                <c:pt idx="18">
                  <c:v>193</c:v>
                </c:pt>
                <c:pt idx="19">
                  <c:v>207</c:v>
                </c:pt>
                <c:pt idx="20">
                  <c:v>224</c:v>
                </c:pt>
                <c:pt idx="21">
                  <c:v>182</c:v>
                </c:pt>
                <c:pt idx="22">
                  <c:v>168</c:v>
                </c:pt>
                <c:pt idx="23">
                  <c:v>148</c:v>
                </c:pt>
                <c:pt idx="24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Storm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97</c:v>
                </c:pt>
                <c:pt idx="1">
                  <c:v>117</c:v>
                </c:pt>
                <c:pt idx="2">
                  <c:v>85</c:v>
                </c:pt>
                <c:pt idx="3">
                  <c:v>124</c:v>
                </c:pt>
                <c:pt idx="4">
                  <c:v>130</c:v>
                </c:pt>
                <c:pt idx="5">
                  <c:v>76</c:v>
                </c:pt>
                <c:pt idx="6">
                  <c:v>104</c:v>
                </c:pt>
                <c:pt idx="7">
                  <c:v>110</c:v>
                </c:pt>
                <c:pt idx="8">
                  <c:v>87</c:v>
                </c:pt>
                <c:pt idx="9">
                  <c:v>93</c:v>
                </c:pt>
                <c:pt idx="10">
                  <c:v>85</c:v>
                </c:pt>
                <c:pt idx="11">
                  <c:v>91</c:v>
                </c:pt>
                <c:pt idx="12">
                  <c:v>108</c:v>
                </c:pt>
                <c:pt idx="13">
                  <c:v>99</c:v>
                </c:pt>
                <c:pt idx="14">
                  <c:v>120</c:v>
                </c:pt>
                <c:pt idx="15">
                  <c:v>87</c:v>
                </c:pt>
                <c:pt idx="16">
                  <c:v>130</c:v>
                </c:pt>
                <c:pt idx="17">
                  <c:v>99</c:v>
                </c:pt>
                <c:pt idx="18">
                  <c:v>95</c:v>
                </c:pt>
                <c:pt idx="19">
                  <c:v>133</c:v>
                </c:pt>
                <c:pt idx="20">
                  <c:v>118</c:v>
                </c:pt>
                <c:pt idx="21">
                  <c:v>109</c:v>
                </c:pt>
                <c:pt idx="22">
                  <c:v>140</c:v>
                </c:pt>
                <c:pt idx="23">
                  <c:v>149</c:v>
                </c:pt>
                <c:pt idx="24">
                  <c:v>156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Drought</c:v>
                </c:pt>
              </c:strCache>
            </c:strRef>
          </c:tx>
          <c:spPr>
            <a:solidFill>
              <a:srgbClr val="E9B4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</c:lvl>
              </c:multiLvlStrCache>
            </c:multiLvl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42</c:v>
                </c:pt>
                <c:pt idx="1">
                  <c:v>38</c:v>
                </c:pt>
                <c:pt idx="2">
                  <c:v>23</c:v>
                </c:pt>
                <c:pt idx="3">
                  <c:v>19</c:v>
                </c:pt>
                <c:pt idx="4">
                  <c:v>24</c:v>
                </c:pt>
                <c:pt idx="5">
                  <c:v>20</c:v>
                </c:pt>
                <c:pt idx="6">
                  <c:v>12</c:v>
                </c:pt>
                <c:pt idx="7">
                  <c:v>19</c:v>
                </c:pt>
                <c:pt idx="8">
                  <c:v>31</c:v>
                </c:pt>
                <c:pt idx="9">
                  <c:v>28</c:v>
                </c:pt>
                <c:pt idx="10">
                  <c:v>24</c:v>
                </c:pt>
                <c:pt idx="11">
                  <c:v>31</c:v>
                </c:pt>
                <c:pt idx="12">
                  <c:v>15</c:v>
                </c:pt>
                <c:pt idx="13">
                  <c:v>21</c:v>
                </c:pt>
                <c:pt idx="14">
                  <c:v>39</c:v>
                </c:pt>
                <c:pt idx="15">
                  <c:v>32</c:v>
                </c:pt>
                <c:pt idx="16">
                  <c:v>27</c:v>
                </c:pt>
                <c:pt idx="17">
                  <c:v>20</c:v>
                </c:pt>
                <c:pt idx="18">
                  <c:v>28</c:v>
                </c:pt>
                <c:pt idx="19">
                  <c:v>20</c:v>
                </c:pt>
                <c:pt idx="20">
                  <c:v>25</c:v>
                </c:pt>
                <c:pt idx="21">
                  <c:v>39</c:v>
                </c:pt>
                <c:pt idx="22">
                  <c:v>20</c:v>
                </c:pt>
                <c:pt idx="23">
                  <c:v>21</c:v>
                </c:pt>
                <c:pt idx="24">
                  <c:v>12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Extreme temperature</c:v>
                </c:pt>
              </c:strCache>
            </c:strRef>
          </c:tx>
          <c:spPr>
            <a:solidFill>
              <a:srgbClr val="B2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</c:lvl>
              </c:multiLvlStrCache>
            </c:multiLvl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20</c:v>
                </c:pt>
                <c:pt idx="1">
                  <c:v>16</c:v>
                </c:pt>
                <c:pt idx="2">
                  <c:v>27</c:v>
                </c:pt>
                <c:pt idx="3">
                  <c:v>19</c:v>
                </c:pt>
                <c:pt idx="4">
                  <c:v>30</c:v>
                </c:pt>
                <c:pt idx="5">
                  <c:v>33</c:v>
                </c:pt>
                <c:pt idx="6">
                  <c:v>25</c:v>
                </c:pt>
                <c:pt idx="7">
                  <c:v>12</c:v>
                </c:pt>
                <c:pt idx="8">
                  <c:v>27</c:v>
                </c:pt>
                <c:pt idx="9">
                  <c:v>32</c:v>
                </c:pt>
                <c:pt idx="10">
                  <c:v>18</c:v>
                </c:pt>
                <c:pt idx="11">
                  <c:v>52</c:v>
                </c:pt>
                <c:pt idx="12">
                  <c:v>17</c:v>
                </c:pt>
                <c:pt idx="13">
                  <c:v>18</c:v>
                </c:pt>
                <c:pt idx="14">
                  <c:v>14</c:v>
                </c:pt>
                <c:pt idx="15">
                  <c:v>13</c:v>
                </c:pt>
                <c:pt idx="16">
                  <c:v>11</c:v>
                </c:pt>
                <c:pt idx="17">
                  <c:v>27</c:v>
                </c:pt>
                <c:pt idx="18">
                  <c:v>23</c:v>
                </c:pt>
                <c:pt idx="19">
                  <c:v>5</c:v>
                </c:pt>
                <c:pt idx="20">
                  <c:v>3</c:v>
                </c:pt>
                <c:pt idx="21">
                  <c:v>40</c:v>
                </c:pt>
                <c:pt idx="22">
                  <c:v>45</c:v>
                </c:pt>
                <c:pt idx="23">
                  <c:v>50</c:v>
                </c:pt>
                <c:pt idx="24">
                  <c:v>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Wildfire</c:v>
                </c:pt>
              </c:strCache>
            </c:strRef>
          </c:tx>
          <c:spPr>
            <a:solidFill>
              <a:srgbClr val="8C5A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</c:lvl>
              </c:multiLvlStrCache>
            </c:multiLvlStrRef>
          </c:cat>
          <c:val>
            <c:numRef>
              <c:f>Sheet1!$F$2:$F$26</c:f>
              <c:numCache>
                <c:formatCode>General</c:formatCode>
                <c:ptCount val="25"/>
                <c:pt idx="0">
                  <c:v>14</c:v>
                </c:pt>
                <c:pt idx="1">
                  <c:v>22</c:v>
                </c:pt>
                <c:pt idx="2">
                  <c:v>14</c:v>
                </c:pt>
                <c:pt idx="3">
                  <c:v>8</c:v>
                </c:pt>
                <c:pt idx="4">
                  <c:v>13</c:v>
                </c:pt>
                <c:pt idx="5">
                  <c:v>11</c:v>
                </c:pt>
                <c:pt idx="6">
                  <c:v>17</c:v>
                </c:pt>
                <c:pt idx="7">
                  <c:v>5</c:v>
                </c:pt>
                <c:pt idx="8">
                  <c:v>9</c:v>
                </c:pt>
                <c:pt idx="9">
                  <c:v>7</c:v>
                </c:pt>
                <c:pt idx="10">
                  <c:v>8</c:v>
                </c:pt>
                <c:pt idx="11">
                  <c:v>7</c:v>
                </c:pt>
                <c:pt idx="12">
                  <c:v>10</c:v>
                </c:pt>
                <c:pt idx="13">
                  <c:v>4</c:v>
                </c:pt>
                <c:pt idx="14">
                  <c:v>13</c:v>
                </c:pt>
                <c:pt idx="15">
                  <c:v>10</c:v>
                </c:pt>
                <c:pt idx="16">
                  <c:v>15</c:v>
                </c:pt>
                <c:pt idx="17">
                  <c:v>10</c:v>
                </c:pt>
                <c:pt idx="18">
                  <c:v>14</c:v>
                </c:pt>
                <c:pt idx="19">
                  <c:v>10</c:v>
                </c:pt>
                <c:pt idx="20">
                  <c:v>19</c:v>
                </c:pt>
                <c:pt idx="21">
                  <c:v>16</c:v>
                </c:pt>
                <c:pt idx="22">
                  <c:v>17</c:v>
                </c:pt>
                <c:pt idx="23">
                  <c:v>21</c:v>
                </c:pt>
                <c:pt idx="24">
                  <c:v>23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Landslide</c:v>
                </c:pt>
              </c:strCache>
            </c:strRef>
          </c:tx>
          <c:spPr>
            <a:solidFill>
              <a:srgbClr val="8FB3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</c:lvl>
              </c:multiLvlStrCache>
            </c:multiLvlStrRef>
          </c:cat>
          <c:val>
            <c:numRef>
              <c:f>Sheet1!$G$2:$G$26</c:f>
              <c:numCache>
                <c:formatCode>General</c:formatCode>
                <c:ptCount val="25"/>
                <c:pt idx="0">
                  <c:v>24</c:v>
                </c:pt>
                <c:pt idx="1">
                  <c:v>20</c:v>
                </c:pt>
                <c:pt idx="2">
                  <c:v>21</c:v>
                </c:pt>
                <c:pt idx="3">
                  <c:v>17</c:v>
                </c:pt>
                <c:pt idx="4">
                  <c:v>13</c:v>
                </c:pt>
                <c:pt idx="5">
                  <c:v>21</c:v>
                </c:pt>
                <c:pt idx="6">
                  <c:v>10</c:v>
                </c:pt>
                <c:pt idx="7">
                  <c:v>15</c:v>
                </c:pt>
                <c:pt idx="8">
                  <c:v>29</c:v>
                </c:pt>
                <c:pt idx="9">
                  <c:v>33</c:v>
                </c:pt>
                <c:pt idx="10">
                  <c:v>16</c:v>
                </c:pt>
                <c:pt idx="11">
                  <c:v>14</c:v>
                </c:pt>
                <c:pt idx="12">
                  <c:v>11</c:v>
                </c:pt>
                <c:pt idx="13">
                  <c:v>15</c:v>
                </c:pt>
                <c:pt idx="14">
                  <c:v>21</c:v>
                </c:pt>
                <c:pt idx="15">
                  <c:v>13</c:v>
                </c:pt>
                <c:pt idx="16">
                  <c:v>26</c:v>
                </c:pt>
                <c:pt idx="17">
                  <c:v>13</c:v>
                </c:pt>
                <c:pt idx="18">
                  <c:v>26</c:v>
                </c:pt>
                <c:pt idx="19">
                  <c:v>19</c:v>
                </c:pt>
                <c:pt idx="20">
                  <c:v>12</c:v>
                </c:pt>
                <c:pt idx="21">
                  <c:v>17</c:v>
                </c:pt>
                <c:pt idx="22">
                  <c:v>24</c:v>
                </c:pt>
                <c:pt idx="23">
                  <c:v>33</c:v>
                </c:pt>
                <c:pt idx="24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2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4A40"/>
                </a:solidFill>
                <a:latin typeface="+mn-lt"/>
              </a:rPr>
              <a:t>Weather-related damage, US$ B (nominal)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"/>
          <c:y val="0.12"/>
          <c:w val="0.86"/>
          <c:h val="0.6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Recorded damage, US$ B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24</c:v>
                </c:pt>
                <c:pt idx="1">
                  <c:v>50</c:v>
                </c:pt>
                <c:pt idx="2">
                  <c:v>62</c:v>
                </c:pt>
                <c:pt idx="3">
                  <c:v>91</c:v>
                </c:pt>
                <c:pt idx="4">
                  <c:v>208</c:v>
                </c:pt>
                <c:pt idx="5">
                  <c:v>31</c:v>
                </c:pt>
                <c:pt idx="6">
                  <c:v>59</c:v>
                </c:pt>
                <c:pt idx="7">
                  <c:v>100</c:v>
                </c:pt>
                <c:pt idx="8">
                  <c:v>39</c:v>
                </c:pt>
                <c:pt idx="9">
                  <c:v>80</c:v>
                </c:pt>
                <c:pt idx="10">
                  <c:v>142</c:v>
                </c:pt>
                <c:pt idx="11">
                  <c:v>139</c:v>
                </c:pt>
                <c:pt idx="12">
                  <c:v>110</c:v>
                </c:pt>
                <c:pt idx="13">
                  <c:v>88</c:v>
                </c:pt>
                <c:pt idx="14">
                  <c:v>71</c:v>
                </c:pt>
                <c:pt idx="15">
                  <c:v>124</c:v>
                </c:pt>
                <c:pt idx="16">
                  <c:v>307</c:v>
                </c:pt>
                <c:pt idx="17">
                  <c:v>126</c:v>
                </c:pt>
                <c:pt idx="18">
                  <c:v>97</c:v>
                </c:pt>
                <c:pt idx="19">
                  <c:v>162</c:v>
                </c:pt>
                <c:pt idx="20">
                  <c:v>244</c:v>
                </c:pt>
                <c:pt idx="21">
                  <c:v>214</c:v>
                </c:pt>
                <c:pt idx="22">
                  <c:v>151</c:v>
                </c:pt>
                <c:pt idx="23">
                  <c:v>258</c:v>
                </c:pt>
                <c:pt idx="24">
                  <c:v>155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Projected (trend)</c:v>
                </c:pt>
              </c:strCache>
            </c:strRef>
          </c:tx>
          <c:spPr>
            <a:solidFill>
              <a:srgbClr val="8FB3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236</c:v>
                </c:pt>
                <c:pt idx="26">
                  <c:v>251</c:v>
                </c:pt>
                <c:pt idx="27">
                  <c:v>267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Range low (10th pct.)</c:v>
                </c:pt>
              </c:strCache>
            </c:strRef>
          </c:tx>
          <c:spPr>
            <a:solidFill>
              <a:srgbClr val="6B7F86"/>
            </a:solidFill>
            <a:ln w="12700" cap="flat">
              <a:solidFill>
                <a:srgbClr val="6B7F86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ash"/>
            <c:size val="9"/>
            <c:spPr>
              <a:solidFill>
                <a:srgbClr val="6B7F86"/>
              </a:solidFill>
              <a:ln w="9525" cap="flat">
                <a:solidFill>
                  <a:srgbClr val="6B7F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125</c:v>
                </c:pt>
                <c:pt idx="26">
                  <c:v>133</c:v>
                </c:pt>
                <c:pt idx="27">
                  <c:v>141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Range high (90th pct.)</c:v>
                </c:pt>
              </c:strCache>
            </c:strRef>
          </c:tx>
          <c:spPr>
            <a:solidFill>
              <a:srgbClr val="6B7F86"/>
            </a:solidFill>
            <a:ln w="12700" cap="flat">
              <a:solidFill>
                <a:srgbClr val="6B7F86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ash"/>
            <c:size val="9"/>
            <c:spPr>
              <a:solidFill>
                <a:srgbClr val="6B7F86"/>
              </a:solidFill>
              <a:ln w="9525" cap="flat">
                <a:solidFill>
                  <a:srgbClr val="6B7F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  <c:pt idx="25">
                    <c:v>2026</c:v>
                  </c:pt>
                  <c:pt idx="26">
                    <c:v>2027</c:v>
                  </c:pt>
                  <c:pt idx="27">
                    <c:v>2028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364</c:v>
                </c:pt>
                <c:pt idx="26">
                  <c:v>388</c:v>
                </c:pt>
                <c:pt idx="27">
                  <c:v>413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DE5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4A40"/>
                </a:solidFill>
                <a:latin typeface="+mn-lt"/>
              </a:rPr>
              <a:t>Weather-related damage, % of world GDP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Damage as % of world GDP</c:v>
                </c:pt>
              </c:strCache>
            </c:strRef>
          </c:tx>
          <c:spPr>
            <a:solidFill>
              <a:srgbClr val="2F7D6B"/>
            </a:solidFill>
            <a:ln w="25400" cap="flat">
              <a:solidFill>
                <a:srgbClr val="2F7D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F7D6B"/>
              </a:solidFill>
              <a:ln w="9525" cap="flat">
                <a:solidFill>
                  <a:srgbClr val="2F7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  <c:pt idx="24">
                    <c:v>2025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0.069</c:v>
                </c:pt>
                <c:pt idx="1">
                  <c:v>0.143</c:v>
                </c:pt>
                <c:pt idx="2">
                  <c:v>0.156</c:v>
                </c:pt>
                <c:pt idx="3">
                  <c:v>0.204</c:v>
                </c:pt>
                <c:pt idx="4">
                  <c:v>0.432</c:v>
                </c:pt>
                <c:pt idx="5">
                  <c:v>0.06</c:v>
                </c:pt>
                <c:pt idx="6">
                  <c:v>0.099</c:v>
                </c:pt>
                <c:pt idx="7">
                  <c:v>0.155</c:v>
                </c:pt>
                <c:pt idx="8">
                  <c:v>0.063</c:v>
                </c:pt>
                <c:pt idx="9">
                  <c:v>0.119</c:v>
                </c:pt>
                <c:pt idx="10">
                  <c:v>0.19</c:v>
                </c:pt>
                <c:pt idx="11">
                  <c:v>0.183</c:v>
                </c:pt>
                <c:pt idx="12">
                  <c:v>0.141</c:v>
                </c:pt>
                <c:pt idx="13">
                  <c:v>0.11</c:v>
                </c:pt>
                <c:pt idx="14">
                  <c:v>0.094</c:v>
                </c:pt>
                <c:pt idx="15">
                  <c:v>0.16</c:v>
                </c:pt>
                <c:pt idx="16">
                  <c:v>0.373</c:v>
                </c:pt>
                <c:pt idx="17">
                  <c:v>0.144</c:v>
                </c:pt>
                <c:pt idx="18">
                  <c:v>0.109</c:v>
                </c:pt>
                <c:pt idx="19">
                  <c:v>0.188</c:v>
                </c:pt>
                <c:pt idx="20">
                  <c:v>0.247</c:v>
                </c:pt>
                <c:pt idx="21">
                  <c:v>0.208</c:v>
                </c:pt>
                <c:pt idx="22">
                  <c:v>0.14</c:v>
                </c:pt>
                <c:pt idx="23">
                  <c:v>0.231</c:v>
                </c:pt>
                <c:pt idx="24">
                  <c:v>0.131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DE5E2"/>
              </a:solidFill>
              <a:prstDash val="solid"/>
              <a:round/>
            </a:ln>
          </c:spPr>
        </c:majorGridlines>
        <c:numFmt formatCode="0.0#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Share of world weather damage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2001–05</c:v>
                </c:pt>
              </c:strCache>
            </c:strRef>
          </c:tx>
          <c:spPr>
            <a:solidFill>
              <a:srgbClr val="8FB3A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</c:v>
                  </c:pt>
                  <c:pt idx="1">
                    <c:v>N. America</c:v>
                  </c:pt>
                  <c:pt idx="2">
                    <c:v>Europe</c:v>
                  </c:pt>
                  <c:pt idx="3">
                    <c:v>Africa</c:v>
                  </c:pt>
                  <c:pt idx="4">
                    <c:v>S. America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21.8</c:v>
                </c:pt>
                <c:pt idx="1">
                  <c:v>62</c:v>
                </c:pt>
                <c:pt idx="2">
                  <c:v>13.5</c:v>
                </c:pt>
                <c:pt idx="3">
                  <c:v>0.5</c:v>
                </c:pt>
                <c:pt idx="4">
                  <c:v>1.4</c:v>
                </c:pt>
                <c:pt idx="5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2020–24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</c:v>
                  </c:pt>
                  <c:pt idx="1">
                    <c:v>N. America</c:v>
                  </c:pt>
                  <c:pt idx="2">
                    <c:v>Europe</c:v>
                  </c:pt>
                  <c:pt idx="3">
                    <c:v>Africa</c:v>
                  </c:pt>
                  <c:pt idx="4">
                    <c:v>S. America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16.9</c:v>
                </c:pt>
                <c:pt idx="1">
                  <c:v>66.1</c:v>
                </c:pt>
                <c:pt idx="2">
                  <c:v>9</c:v>
                </c:pt>
                <c:pt idx="3">
                  <c:v>1.9</c:v>
                </c:pt>
                <c:pt idx="4">
                  <c:v>3.9</c:v>
                </c:pt>
                <c:pt idx="5">
                  <c:v>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Weather damage as % of the continent's GDP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2001–05</c:v>
                </c:pt>
              </c:strCache>
            </c:strRef>
          </c:tx>
          <c:spPr>
            <a:solidFill>
              <a:srgbClr val="8FB3A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</c:v>
                  </c:pt>
                  <c:pt idx="1">
                    <c:v>N. America</c:v>
                  </c:pt>
                  <c:pt idx="2">
                    <c:v>Europe</c:v>
                  </c:pt>
                  <c:pt idx="3">
                    <c:v>Africa</c:v>
                  </c:pt>
                  <c:pt idx="4">
                    <c:v>S. America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0.18</c:v>
                </c:pt>
                <c:pt idx="1">
                  <c:v>0.4</c:v>
                </c:pt>
                <c:pt idx="2">
                  <c:v>0.09</c:v>
                </c:pt>
                <c:pt idx="3">
                  <c:v>0.04</c:v>
                </c:pt>
                <c:pt idx="4">
                  <c:v>0.1</c:v>
                </c:pt>
                <c:pt idx="5">
                  <c:v>0.13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2020–24</c:v>
                </c:pt>
              </c:strCache>
            </c:strRef>
          </c:tx>
          <c:spPr>
            <a:solidFill>
              <a:srgbClr val="2F7D6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</c:v>
                  </c:pt>
                  <c:pt idx="1">
                    <c:v>N. America</c:v>
                  </c:pt>
                  <c:pt idx="2">
                    <c:v>Europe</c:v>
                  </c:pt>
                  <c:pt idx="3">
                    <c:v>Africa</c:v>
                  </c:pt>
                  <c:pt idx="4">
                    <c:v>S. America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0.09</c:v>
                </c:pt>
                <c:pt idx="1">
                  <c:v>0.42</c:v>
                </c:pt>
                <c:pt idx="2">
                  <c:v>0.07</c:v>
                </c:pt>
                <c:pt idx="3">
                  <c:v>0.12</c:v>
                </c:pt>
                <c:pt idx="4">
                  <c:v>0.2</c:v>
                </c:pt>
                <c:pt idx="5">
                  <c:v>0.21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A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4A40"/>
                </a:solidFill>
                <a:latin typeface="+mn-lt"/>
              </a:rPr>
              <a:t>Spearman rank correlation with emissions (2024)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vs total GHG</c:v>
                </c:pt>
              </c:strCache>
            </c:strRef>
          </c:tx>
          <c:spPr>
            <a:solidFill>
              <a:srgbClr val="D9661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Gov. revenue</c:v>
                  </c:pt>
                  <c:pt idx="1">
                    <c:v>Population</c:v>
                  </c:pt>
                  <c:pt idx="2">
                    <c:v>Land area</c:v>
                  </c:pt>
                  <c:pt idx="3">
                    <c:v>Revenue per person</c:v>
                  </c:pt>
                  <c:pt idx="4">
                    <c:v>Density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</c:v>
                </c:pt>
                <c:pt idx="1">
                  <c:v>0.82</c:v>
                </c:pt>
                <c:pt idx="2">
                  <c:v>0.66</c:v>
                </c:pt>
                <c:pt idx="3">
                  <c:v>0.18</c:v>
                </c:pt>
                <c:pt idx="4">
                  <c:v>-0.03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vs GHG per person</c:v>
                </c:pt>
              </c:strCache>
            </c:strRef>
          </c:tx>
          <c:spPr>
            <a:solidFill>
              <a:srgbClr val="2F7D6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Gov. revenue</c:v>
                  </c:pt>
                  <c:pt idx="1">
                    <c:v>Population</c:v>
                  </c:pt>
                  <c:pt idx="2">
                    <c:v>Land area</c:v>
                  </c:pt>
                  <c:pt idx="3">
                    <c:v>Revenue per person</c:v>
                  </c:pt>
                  <c:pt idx="4">
                    <c:v>Density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0.53</c:v>
                </c:pt>
                <c:pt idx="1">
                  <c:v>-0.14</c:v>
                </c:pt>
                <c:pt idx="2">
                  <c:v>-0.06</c:v>
                </c:pt>
                <c:pt idx="3">
                  <c:v>0.81</c:v>
                </c:pt>
                <c:pt idx="4">
                  <c:v>-0.02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OWID / Jones et al. (GHG, population) · IMF WEO and Fiscal Monitor (revenue) · World Bank (land area) · EM-DAT, HadCRUT5, WMO (weather) · full list on the Sources slide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chart" Target="/ppt/charts/chart1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chart" Target="/ppt/charts/chart19.xml"/><Relationship Id="rId3" Type="http://schemas.openxmlformats.org/officeDocument/2006/relationships/chart" Target="/ppt/charts/chart20.xml"/><Relationship Id="rId4" Type="http://schemas.openxmlformats.org/officeDocument/2006/relationships/chart" Target="/ppt/charts/chart21.xml"/><Relationship Id="rId5" Type="http://schemas.openxmlformats.org/officeDocument/2006/relationships/chart" Target="/ppt/charts/chart22.xm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chart" Target="/ppt/charts/chart24.xml"/><Relationship Id="rId3" Type="http://schemas.openxmlformats.org/officeDocument/2006/relationships/chart" Target="/ppt/charts/chart25.xml"/><Relationship Id="rId4" Type="http://schemas.openxmlformats.org/officeDocument/2006/relationships/chart" Target="/ppt/charts/chart26.xml"/><Relationship Id="rId5" Type="http://schemas.openxmlformats.org/officeDocument/2006/relationships/chart" Target="/ppt/charts/chart27.xm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chart" Target="/ppt/charts/chart29.xml"/><Relationship Id="rId3" Type="http://schemas.openxmlformats.org/officeDocument/2006/relationships/chart" Target="/ppt/charts/chart30.xml"/><Relationship Id="rId4" Type="http://schemas.openxmlformats.org/officeDocument/2006/relationships/chart" Target="/ppt/charts/chart31.xml"/><Relationship Id="rId5" Type="http://schemas.openxmlformats.org/officeDocument/2006/relationships/chart" Target="/ppt/charts/chart32.xm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chart" Target="/ppt/charts/chart3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chart" Target="/ppt/charts/chart39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Emits the World's Greenhouse Gases?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by country and continent against population, government revenue, land area and density · trends since 2001 · outlook to 2028 · extreme weather · October 2026</a:t>
            </a:r>
            <a:endParaRPr lang="en-US" sz="1600" dirty="0"/>
          </a:p>
        </p:txBody>
      </p:sp>
      <p:sp>
        <p:nvSpPr>
          <p:cNvPr id="4" name="motif-dot"/>
          <p:cNvSpPr/>
          <p:nvPr/>
        </p:nvSpPr>
        <p:spPr>
          <a:xfrm>
            <a:off x="7498080" y="45720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43.7 Gt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600" dirty="0"/>
          </a:p>
        </p:txBody>
      </p:sp>
      <p:sp>
        <p:nvSpPr>
          <p:cNvPr id="3" name="toc-1"/>
          <p:cNvSpPr/>
          <p:nvPr/>
        </p:nvSpPr>
        <p:spPr>
          <a:xfrm>
            <a:off x="457200" y="100584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005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Countries and continents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Who emits most in 2024, by country and continent</a:t>
            </a:r>
            <a:endParaRPr lang="en-US" sz="1300" dirty="0"/>
          </a:p>
        </p:txBody>
      </p:sp>
      <p:sp>
        <p:nvSpPr>
          <p:cNvPr id="6" name="toc-2"/>
          <p:cNvSpPr/>
          <p:nvPr/>
        </p:nvSpPr>
        <p:spPr>
          <a:xfrm>
            <a:off x="4663440" y="100584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8–9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005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Population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Total and per-person emissions by population size</a:t>
            </a:r>
            <a:endParaRPr lang="en-US" sz="1300" dirty="0"/>
          </a:p>
        </p:txBody>
      </p:sp>
      <p:sp>
        <p:nvSpPr>
          <p:cNvPr id="9" name="toc-3"/>
          <p:cNvSpPr/>
          <p:nvPr/>
        </p:nvSpPr>
        <p:spPr>
          <a:xfrm>
            <a:off x="457200" y="1901952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9019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9019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Government revenue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Emissions against public revenue, in total and per person</a:t>
            </a:r>
            <a:endParaRPr lang="en-US" sz="1300" dirty="0"/>
          </a:p>
        </p:txBody>
      </p:sp>
      <p:sp>
        <p:nvSpPr>
          <p:cNvPr id="12" name="toc-4"/>
          <p:cNvSpPr/>
          <p:nvPr/>
        </p:nvSpPr>
        <p:spPr>
          <a:xfrm>
            <a:off x="4663440" y="1901952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9019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13–14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19019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Size and density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Land area and population density</a:t>
            </a:r>
            <a:endParaRPr lang="en-US" sz="1300" dirty="0"/>
          </a:p>
        </p:txBody>
      </p:sp>
      <p:sp>
        <p:nvSpPr>
          <p:cNvPr id="15" name="toc-5"/>
          <p:cNvSpPr/>
          <p:nvPr/>
        </p:nvSpPr>
        <p:spPr>
          <a:xfrm>
            <a:off x="457200" y="2798064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79806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15–19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279806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21st-century trends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2001–2024 emissions and revenue by continent; shares 2001 vs 2024</a:t>
            </a:r>
            <a:endParaRPr lang="en-US" sz="1300" dirty="0"/>
          </a:p>
        </p:txBody>
      </p:sp>
      <p:sp>
        <p:nvSpPr>
          <p:cNvPr id="18" name="toc-6"/>
          <p:cNvSpPr/>
          <p:nvPr/>
        </p:nvSpPr>
        <p:spPr>
          <a:xfrm>
            <a:off x="4663440" y="2798064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279806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20–26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279806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Outlook to 2028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Policy changes, method, and projections for the 15 largest emitters</a:t>
            </a:r>
            <a:endParaRPr lang="en-US" sz="1300" dirty="0"/>
          </a:p>
        </p:txBody>
      </p:sp>
      <p:sp>
        <p:nvSpPr>
          <p:cNvPr id="21" name="toc-7"/>
          <p:cNvSpPr/>
          <p:nvPr/>
        </p:nvSpPr>
        <p:spPr>
          <a:xfrm>
            <a:off x="457200" y="3694176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69417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27–31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69417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Extreme weather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Temperature, recorded disasters and their costs, with outlook to 2028</a:t>
            </a:r>
            <a:endParaRPr lang="en-US" sz="1300" dirty="0"/>
          </a:p>
        </p:txBody>
      </p:sp>
      <p:sp>
        <p:nvSpPr>
          <p:cNvPr id="24" name="toc-8"/>
          <p:cNvSpPr/>
          <p:nvPr/>
        </p:nvSpPr>
        <p:spPr>
          <a:xfrm>
            <a:off x="4663440" y="3694176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369417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32–35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369417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Conclusions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Main findings, limits and sources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takeaway-1"/>
          <p:cNvSpPr/>
          <p:nvPr/>
        </p:nvSpPr>
        <p:spPr>
          <a:xfrm>
            <a:off x="457200" y="1234440"/>
            <a:ext cx="1874520" cy="26517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69164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43.7 Gt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169164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CO₂e emitted in 2024 by 198 countries (excl. land use)</a:t>
            </a:r>
            <a:endParaRPr lang="en-US" sz="1300" dirty="0"/>
          </a:p>
        </p:txBody>
      </p:sp>
      <p:sp>
        <p:nvSpPr>
          <p:cNvPr id="7" name="takeaway-2"/>
          <p:cNvSpPr/>
          <p:nvPr/>
        </p:nvSpPr>
        <p:spPr>
          <a:xfrm>
            <a:off x="2560320" y="1234440"/>
            <a:ext cx="1874520" cy="26517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41732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783080"/>
            <a:ext cx="169164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606040"/>
            <a:ext cx="169164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total comes from just the 10 largest emitters</a:t>
            </a:r>
            <a:endParaRPr lang="en-US" sz="1300" dirty="0"/>
          </a:p>
        </p:txBody>
      </p:sp>
      <p:sp>
        <p:nvSpPr>
          <p:cNvPr id="11" name="takeaway-3"/>
          <p:cNvSpPr/>
          <p:nvPr/>
        </p:nvSpPr>
        <p:spPr>
          <a:xfrm>
            <a:off x="4663440" y="1234440"/>
            <a:ext cx="1874520" cy="26517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1732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783080"/>
            <a:ext cx="169164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606040"/>
            <a:ext cx="169164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government revenue per person and GHG per person — the strongest link found</a:t>
            </a:r>
            <a:endParaRPr lang="en-US" sz="1300" dirty="0"/>
          </a:p>
        </p:txBody>
      </p:sp>
      <p:sp>
        <p:nvSpPr>
          <p:cNvPr id="15" name="takeaway-4"/>
          <p:cNvSpPr/>
          <p:nvPr/>
        </p:nvSpPr>
        <p:spPr>
          <a:xfrm>
            <a:off x="6766560" y="1234440"/>
            <a:ext cx="1874520" cy="26517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41732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1783080"/>
            <a:ext cx="169164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606040"/>
            <a:ext cx="169164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population density and emissions — density alone tells you little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size (population, revenue, area) predicts total emissions; wealth predicts emissions per person.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method</a:t>
            </a:r>
            <a:endParaRPr lang="en-US" sz="2600" dirty="0"/>
          </a:p>
        </p:txBody>
      </p:sp>
      <p:sp>
        <p:nvSpPr>
          <p:cNvPr id="3" name="def-1"/>
          <p:cNvSpPr/>
          <p:nvPr/>
        </p:nvSpPr>
        <p:spPr>
          <a:xfrm>
            <a:off x="457200" y="109728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5331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13385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emissions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CO₂, CH₄ and N₂O in Mt CO₂e, excluding land-use change; 2024 (OWID, Jones et al.)</a:t>
            </a:r>
            <a:endParaRPr lang="en-US" sz="1400" dirty="0"/>
          </a:p>
        </p:txBody>
      </p:sp>
      <p:sp>
        <p:nvSpPr>
          <p:cNvPr id="7" name="def-2"/>
          <p:cNvSpPr/>
          <p:nvPr/>
        </p:nvSpPr>
        <p:spPr>
          <a:xfrm>
            <a:off x="4663440" y="109728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8032" y="135331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803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13385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mid-year population (OWID / UN WPP)</a:t>
            </a:r>
            <a:endParaRPr lang="en-US" sz="1400" dirty="0"/>
          </a:p>
        </p:txBody>
      </p:sp>
      <p:sp>
        <p:nvSpPr>
          <p:cNvPr id="11" name="def-3"/>
          <p:cNvSpPr/>
          <p:nvPr/>
        </p:nvSpPr>
        <p:spPr>
          <a:xfrm>
            <a:off x="457200" y="2130552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38658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16712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 revenue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general government revenue, US$ billions, 2024 (a few countries use latest available year)</a:t>
            </a:r>
            <a:endParaRPr lang="en-US" sz="1400" dirty="0"/>
          </a:p>
        </p:txBody>
      </p:sp>
      <p:sp>
        <p:nvSpPr>
          <p:cNvPr id="15" name="def-4"/>
          <p:cNvSpPr/>
          <p:nvPr/>
        </p:nvSpPr>
        <p:spPr>
          <a:xfrm>
            <a:off x="4663440" y="2130552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8032" y="238658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28032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16712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area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area in km², excludes inland water (World Bank via OWID, 2023)</a:t>
            </a:r>
            <a:endParaRPr lang="en-US" sz="1400" dirty="0"/>
          </a:p>
        </p:txBody>
      </p:sp>
      <p:sp>
        <p:nvSpPr>
          <p:cNvPr id="19" name="def-5"/>
          <p:cNvSpPr/>
          <p:nvPr/>
        </p:nvSpPr>
        <p:spPr>
          <a:xfrm>
            <a:off x="457200" y="3163824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4198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200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÷ land area (people per km²)</a:t>
            </a:r>
            <a:endParaRPr lang="en-US" sz="1400" dirty="0"/>
          </a:p>
        </p:txBody>
      </p:sp>
      <p:sp>
        <p:nvSpPr>
          <p:cNvPr id="23" name="def-6"/>
          <p:cNvSpPr/>
          <p:nvPr/>
        </p:nvSpPr>
        <p:spPr>
          <a:xfrm>
            <a:off x="4663440" y="3163824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8032" y="34198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28032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200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continent mapping; Russia counted in Europe, Turkey in Asia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2702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Ratios computed per country: t CO₂e per person, per US$1M of government revenue, and per km². Spearman rank correlations across 190–198 countries.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countries produce 69% of global GHG emissions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alone — more than the next three countries combined.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12.8% · India 8.2% · Russia 5.1%</a:t>
            </a:r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 and Saudi Arabia rank 7th–8th despite modest populations; both are large oil and gas producers.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America and Europe emit more than their population share; Africa far less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5778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"/>
          <p:cNvSpPr/>
          <p:nvPr/>
        </p:nvSpPr>
        <p:spPr>
          <a:xfrm>
            <a:off x="6217920" y="1143000"/>
            <a:ext cx="2468880" cy="33832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0" y="1188720"/>
            <a:ext cx="2468880" cy="3291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Asia: 61% of emissions, 59% of people</a:t>
            </a:r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proportional — but per person (5.6 t) it is near the world average of 5.4 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America: 16% from 7.5%</a:t>
            </a:r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 t per person, the highest with Oceania (11.3 t).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Africa: 5% from 19%</a:t>
            </a:r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t per person.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Continent scorecard: emissions against every factor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22960"/>
                <a:gridCol w="594360"/>
                <a:gridCol w="868680"/>
                <a:gridCol w="731520"/>
                <a:gridCol w="914400"/>
                <a:gridCol w="868680"/>
                <a:gridCol w="777240"/>
                <a:gridCol w="68580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(Mt CO₂e)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CO₂e 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Gov.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(US$ 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CO₂e 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$1M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 km²)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(/km²)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CO₂e 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America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Oceania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(198)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43,694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34,974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E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Revenue intensity: Europe produces the least GHG per dollar of government revenue (482 t per $1M); Africa the most (3,914 t), because public revenues there are small relative to activity.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people means more total emissions — not more per person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00584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 countries over 200M people emit 58% of the total.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Rank correlation with population: 0.82 for total GHG, −0.14 for GHG per person. (Number of countries in brackets.)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person, Gulf oil and gas states lead by a wide margin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 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average per person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Qatar's 48.8 t is 9× the average</a:t>
            </a:r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 0.25 t, Malawi 0.28 t, Burundi 0.29 t, Afghanistan 0.37 t, Rwanda 0.38 t — about 200× less than Qatar.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governments with revenue over $1 trillion account for half of all emissions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 between revenue and total GHG — the highest of any factor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&gt;$1T club: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US, China, Germany, France, Japan, UK, Italy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countries with revenue under $10B emit just 2.3% combined.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dollar of public revenue, emissions vary more than 100-fold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4805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high-list"/>
          <p:cNvSpPr/>
          <p:nvPr/>
        </p:nvSpPr>
        <p:spPr>
          <a:xfrm>
            <a:off x="5120640" y="114300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BEDE3"/>
          </a:solidFill>
          <a:ln w="12700">
            <a:solidFill>
              <a:srgbClr val="FBEDE3"/>
            </a:solidFill>
            <a:prstDash val="solid"/>
          </a:ln>
        </p:spPr>
      </p:sp>
      <p:sp>
        <p:nvSpPr>
          <p:cNvPr id="5" name="low-list"/>
          <p:cNvSpPr/>
          <p:nvPr/>
        </p:nvSpPr>
        <p:spPr>
          <a:xfrm>
            <a:off x="6995160" y="1143000"/>
            <a:ext cx="1691640" cy="23774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0" y="1188720"/>
            <a:ext cx="1691640" cy="2743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Most intensive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Iran  18,997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Nigeria  10,495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Venezuela  7,692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Uzbekistan  5,905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Indonesia  5,708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Kazakhstan  5,598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995160" y="1188720"/>
            <a:ext cx="1691640" cy="2743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Least intensive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Switzerland  114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Norway  152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Sweden  155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Denmark  163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France  181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Finland  219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t CO₂e per $1M; countries with revenue ≥ $10B and ≥ 1M people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per person is the strongest predictor of emissions per person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correlation, revenue per person vs GHG per person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government collects under $500 per person, people emit 0.8 t each; above $20,000, 12 t — about 15× more.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flattens at the top: rich Nordic states emit far less than Gulf states at similar revenue.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countries larger than 2 million km² emit 65% of the total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00584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Large area ≠ high intensity.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Area correlates 0.66 with total GHG but not with GHG per person (−0.06). Per km², small industrial city-states and Gulf states top the list.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density shows no consistent link with emissions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−0.02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correlation, density vs GHG per person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but heavy: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17.1 t, Canada 15.9 t, Russia 15.4 t, Saudi Arabia 23.7 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both ways: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 12.0 t vs India 2.5 t and Pakistan 1.0 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Asia: emissions and revenue both rose; emissions growth is slowing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20040" y="960120"/>
          <a:ext cx="5897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rojection-zone"/>
          <p:cNvSpPr/>
          <p:nvPr/>
        </p:nvSpPr>
        <p:spPr>
          <a:xfrm>
            <a:off x="4770833" y="1147572"/>
            <a:ext cx="739341" cy="2624328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770833" y="1147572"/>
            <a:ext cx="7393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chemeClr val="accent5"/>
                </a:solidFill>
              </a:rPr>
              <a:t>Projection</a:t>
            </a:r>
            <a:endParaRPr lang="en-US" sz="800" dirty="0"/>
          </a:p>
        </p:txBody>
      </p:sp>
      <p:sp>
        <p:nvSpPr>
          <p:cNvPr id="6" name="callout"/>
          <p:cNvSpPr/>
          <p:nvPr/>
        </p:nvSpPr>
        <p:spPr>
          <a:xfrm>
            <a:off x="6355080" y="1051560"/>
            <a:ext cx="2331720" cy="352044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5080" y="1097280"/>
            <a:ext cx="2331720" cy="34290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</a:t>
            </a:r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+135% and revenue +363%, 2001–2024.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GHG: 27,445 Mt (range 25,777–29,310).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emissions were roughly flat in 2025 (−0.3% to +0.4% by different estimates), so most projected growth comes from India, Indonesia and Turkey.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GHG (left axis). Dashed = government revenue (right axis, nominal US$). Shaded = projection.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America and Europe: emissions fell while revenue grew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20040" y="960120"/>
          <a:ext cx="5897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rojection-zone"/>
          <p:cNvSpPr/>
          <p:nvPr/>
        </p:nvSpPr>
        <p:spPr>
          <a:xfrm>
            <a:off x="4770833" y="1147572"/>
            <a:ext cx="739341" cy="2624328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770833" y="1147572"/>
            <a:ext cx="7393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chemeClr val="accent5"/>
                </a:solidFill>
              </a:rPr>
              <a:t>Projection</a:t>
            </a:r>
            <a:endParaRPr lang="en-US" sz="800" dirty="0"/>
          </a:p>
        </p:txBody>
      </p:sp>
      <p:sp>
        <p:nvSpPr>
          <p:cNvPr id="6" name="callout"/>
          <p:cNvSpPr/>
          <p:nvPr/>
        </p:nvSpPr>
        <p:spPr>
          <a:xfrm>
            <a:off x="6355080" y="1051560"/>
            <a:ext cx="2331720" cy="352044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5080" y="1097280"/>
            <a:ext cx="2331720" cy="34290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-11% and revenue +165%, 2001–2024.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GHG: 6,894 Mt (range 6,647–7,133).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-20% and revenue +180%, 2001–2024.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GHG: 5,369 Mt (range 5,021–5,743).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emissions rose 2.4% in 2025; after recent policy rollbacks, declines to 2028 are projected to be slower than in 2005–2024.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Africa, South America, Oceania: smaller totals, different paths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20040" y="960120"/>
          <a:ext cx="5897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rojection-zone"/>
          <p:cNvSpPr/>
          <p:nvPr/>
        </p:nvSpPr>
        <p:spPr>
          <a:xfrm>
            <a:off x="4770833" y="1147572"/>
            <a:ext cx="739341" cy="2624328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770833" y="1147572"/>
            <a:ext cx="7393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chemeClr val="accent5"/>
                </a:solidFill>
              </a:rPr>
              <a:t>Projection</a:t>
            </a:r>
            <a:endParaRPr lang="en-US" sz="800" dirty="0"/>
          </a:p>
        </p:txBody>
      </p:sp>
      <p:sp>
        <p:nvSpPr>
          <p:cNvPr id="6" name="callout"/>
          <p:cNvSpPr/>
          <p:nvPr/>
        </p:nvSpPr>
        <p:spPr>
          <a:xfrm>
            <a:off x="6355080" y="1051560"/>
            <a:ext cx="2331720" cy="352044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5080" y="1097280"/>
            <a:ext cx="2331720" cy="34290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</a:t>
            </a:r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+37% and revenue +264%, 2001–2024.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GHG: 2,345 Mt (range 2,146–2,560).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America</a:t>
            </a:r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+33% and revenue +290%, 2001–2024.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GHG: 1,427 Mt (range 1,331–1,530).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Oceania</a:t>
            </a:r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+7% and revenue +391%, 2001–2024.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GHG: 487 Mt (range 451–526).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Shares of world emissions and revenue, 2001 vs 2024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41605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17720" y="960120"/>
          <a:ext cx="41605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Population share 2001 → 2024: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Asia 60.8→59% · North America 7.8→7.5% · Europe 11.6→9.1% · Africa 13.6→18.6% · South America 5.7→5.3% · Oceania 0.5→0.6%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5"/>
                </a:solidFill>
              </a:rPr>
              <a:t>Revenue shares use the 177 countries with a complete 2001–2024 series, in nominal US$ (exchange-rate moves shift shares).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since 2001: emissions vs revenue by continent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7607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"/>
          <p:cNvSpPr/>
          <p:nvPr/>
        </p:nvSpPr>
        <p:spPr>
          <a:xfrm>
            <a:off x="6355080" y="1143000"/>
            <a:ext cx="2331720" cy="338328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188720"/>
            <a:ext cx="2331720" cy="3291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read this</a:t>
            </a:r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and North America cut emissions while revenue grew ("decoupling").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part of the cut reflects imports: counting emissions in goods consumed, Europe's CO₂ fell 11.2% (vs 19.5% produced) and North America's 6.4% (vs 11%), 2001–2022.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is nominal and includes inflation.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changes and events shaping 2025–2028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0"/>
                <a:gridCol w="1325880"/>
                <a:gridCol w="2560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for emissions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effect / latest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Iran war; Strait of Hormuz closed from Mar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oil use, ↑ some coal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fossil CO₂ ≈ −0.5% in 2026 (Carbon Brief, Sep 2026); IEA oil demand −2.4%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OBBBA (Jul 2025) phases out IRA clean-energy credits; vehicle GHG standards repealed (Feb 2026); Paris exit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vs earlier path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Rhodium: 26–35% below 2005 by 2035 (was 38–56%); 2025 GHG +2.4%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fuel charge set to zero (Apr 2025); EV mandate delayed; oil &amp; gas cap and clean-electricity rules dropped (Nov 2025). Industrial carbon price kept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small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PBO: fuel charge +3–13 Mt in 2030; EV delay +1 Mt; cap +5 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Union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2040 target −90% adopted (Mar 2026); ETS2 (buildings, road fuel) delayed to 2028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long term; little change before 2028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EU CO₂ +0.4% (GCB)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2035 target: 7–10% below peak; clean power and EV growth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/ flat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CO₂ −0.3% (CREA) to +0.4% (GCB); Q2 2026 −1%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solar and wind additions; steel and cement growth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but slower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CO₂ +0.7% (CREA) to +1.4% (GCB)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Arrows show the direction relative to the previous policy path, not whether emissions rise or fall in absolute terms.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projections were built</a:t>
            </a:r>
            <a:endParaRPr lang="en-US" sz="2600" dirty="0"/>
          </a:p>
        </p:txBody>
      </p:sp>
      <p:sp>
        <p:nvSpPr>
          <p:cNvPr id="3" name="method-1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9786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033272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Government revenue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IMF forecasts (Fiscal Monitor revenue % of GDP × WEO GDP in US$, October 2026). They already include the 2026 oil shock. Seven countries without IMF forecasts are extended at their continent's growth rate.</a:t>
            </a:r>
            <a:endParaRPr lang="en-US" sz="1200" dirty="0"/>
          </a:p>
        </p:txBody>
      </p:sp>
      <p:sp>
        <p:nvSpPr>
          <p:cNvPr id="7" name="method-2"/>
          <p:cNvSpPr/>
          <p:nvPr/>
        </p:nvSpPr>
        <p:spPr>
          <a:xfrm>
            <a:off x="457200" y="187452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06654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901952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Emissions, 2025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Early estimates where published: China, US, India, EU, Japan (Global Carbon Budget, Rhodium, CREA/Carbon Brief). Other countries follow their own trend.</a:t>
            </a:r>
            <a:endParaRPr lang="en-US" sz="1200" dirty="0"/>
          </a:p>
        </p:txBody>
      </p:sp>
      <p:sp>
        <p:nvSpPr>
          <p:cNvPr id="11" name="method-3"/>
          <p:cNvSpPr/>
          <p:nvPr/>
        </p:nvSpPr>
        <p:spPr>
          <a:xfrm>
            <a:off x="457200" y="274320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9352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770632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Emissions, 2026–2028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Each country's 2015–2024 trend (2020–21 excluded), with 2026 lowered by 1.1 points so the world total matches the estimated −0.5% from the oil shock. US, Canada, China, India and Iran adjusted using the evidence on the previous slide.</a:t>
            </a:r>
            <a:endParaRPr lang="en-US" sz="1200" dirty="0"/>
          </a:p>
        </p:txBody>
      </p:sp>
      <p:sp>
        <p:nvSpPr>
          <p:cNvPr id="15" name="method-4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80390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639312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Ranges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± one standard deviation of each country's past annual growth, widening over time; published ranges where available. World and continent ranges add country ranges, so they are wide. Iran's 2026 range (−15% to 0%) is an assumption: no estimate exists.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 flat, US down slowly, India still rising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60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China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13,630 Mt · $6.0T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16152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rojection-zone"/>
          <p:cNvSpPr/>
          <p:nvPr/>
        </p:nvSpPr>
        <p:spPr>
          <a:xfrm>
            <a:off x="2413624" y="1294790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246120" y="960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United States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5,497 Mt · $10.7T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3200400" y="1216152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projection-zone"/>
          <p:cNvSpPr/>
          <p:nvPr/>
        </p:nvSpPr>
        <p:spPr>
          <a:xfrm>
            <a:off x="5248264" y="1294790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080760" y="960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India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3,827 Mt · $1.1T</a:t>
            </a:r>
            <a:endParaRPr lang="en-US" sz="12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6035040" y="1216152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projection-zone"/>
          <p:cNvSpPr/>
          <p:nvPr/>
        </p:nvSpPr>
        <p:spPr>
          <a:xfrm>
            <a:off x="8082904" y="1294790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11480" y="28620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Russia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2,308 Mt · $925B</a:t>
            </a:r>
            <a:endParaRPr lang="en-US" sz="1200" dirty="0"/>
          </a:p>
        </p:txBody>
      </p:sp>
      <p:graphicFrame>
        <p:nvGraphicFramePr>
          <p:cNvPr id="13" name="Chart 3" descr=""/>
          <p:cNvGraphicFramePr/>
          <p:nvPr/>
        </p:nvGraphicFramePr>
        <p:xfrm>
          <a:off x="365760" y="3118104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projection-zone"/>
          <p:cNvSpPr/>
          <p:nvPr/>
        </p:nvSpPr>
        <p:spPr>
          <a:xfrm>
            <a:off x="2413624" y="3196742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3246120" y="28620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Indonesia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1,369 Mt · $245B</a:t>
            </a:r>
            <a:endParaRPr lang="en-US" sz="1200" dirty="0"/>
          </a:p>
        </p:txBody>
      </p:sp>
      <p:graphicFrame>
        <p:nvGraphicFramePr>
          <p:cNvPr id="16" name="Chart 4" descr=""/>
          <p:cNvGraphicFramePr/>
          <p:nvPr/>
        </p:nvGraphicFramePr>
        <p:xfrm>
          <a:off x="3200400" y="3118104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projection-zone"/>
          <p:cNvSpPr/>
          <p:nvPr/>
        </p:nvSpPr>
        <p:spPr>
          <a:xfrm>
            <a:off x="5248264" y="3196742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18" name="group-notes"/>
          <p:cNvSpPr/>
          <p:nvPr/>
        </p:nvSpPr>
        <p:spPr>
          <a:xfrm>
            <a:off x="6080760" y="2862072"/>
            <a:ext cx="26974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080760" y="2862072"/>
            <a:ext cx="2697480" cy="1828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━ GHG, Mt CO₂e (left)  ┈ range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╍ Revenue, US$ B (right)  ▒ projection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chemeClr val="tx1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China: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2028 central 13.6 Gt, range 13.1–14.3: depends on whether the 2025–26 plateau holds.</a:t>
            </a:r>
            <a:endParaRPr lang="en-US" sz="900" dirty="0"/>
          </a:p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US: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Rhodium's post-rollback path: about −1.2% a year after the 2025 rise.</a:t>
            </a:r>
            <a:endParaRPr lang="en-US" sz="900" dirty="0"/>
          </a:p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India: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+2.5% a year central, slower than its 2015–24 trend.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Japan falling; Iran's 2026 path is highly uncertain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60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Japan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879 Mt · $1.7T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16152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rojection-zone"/>
          <p:cNvSpPr/>
          <p:nvPr/>
        </p:nvSpPr>
        <p:spPr>
          <a:xfrm>
            <a:off x="2413624" y="1294790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246120" y="960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Iran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960 Mt · $34B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3200400" y="1216152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projection-zone"/>
          <p:cNvSpPr/>
          <p:nvPr/>
        </p:nvSpPr>
        <p:spPr>
          <a:xfrm>
            <a:off x="5248264" y="1294790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080760" y="960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Saudi Arabia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826 Mt · $345B</a:t>
            </a:r>
            <a:endParaRPr lang="en-US" sz="12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6035040" y="1216152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projection-zone"/>
          <p:cNvSpPr/>
          <p:nvPr/>
        </p:nvSpPr>
        <p:spPr>
          <a:xfrm>
            <a:off x="8082904" y="1294790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11480" y="28620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Brazil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673 Mt · $1.2T</a:t>
            </a:r>
            <a:endParaRPr lang="en-US" sz="1200" dirty="0"/>
          </a:p>
        </p:txBody>
      </p:sp>
      <p:graphicFrame>
        <p:nvGraphicFramePr>
          <p:cNvPr id="13" name="Chart 3" descr=""/>
          <p:cNvGraphicFramePr/>
          <p:nvPr/>
        </p:nvGraphicFramePr>
        <p:xfrm>
          <a:off x="365760" y="3118104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projection-zone"/>
          <p:cNvSpPr/>
          <p:nvPr/>
        </p:nvSpPr>
        <p:spPr>
          <a:xfrm>
            <a:off x="2413624" y="3196742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3246120" y="28620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Canada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617 Mt · $1.1T</a:t>
            </a:r>
            <a:endParaRPr lang="en-US" sz="1200" dirty="0"/>
          </a:p>
        </p:txBody>
      </p:sp>
      <p:graphicFrame>
        <p:nvGraphicFramePr>
          <p:cNvPr id="16" name="Chart 4" descr=""/>
          <p:cNvGraphicFramePr/>
          <p:nvPr/>
        </p:nvGraphicFramePr>
        <p:xfrm>
          <a:off x="3200400" y="3118104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projection-zone"/>
          <p:cNvSpPr/>
          <p:nvPr/>
        </p:nvSpPr>
        <p:spPr>
          <a:xfrm>
            <a:off x="5248264" y="3196742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18" name="group-notes"/>
          <p:cNvSpPr/>
          <p:nvPr/>
        </p:nvSpPr>
        <p:spPr>
          <a:xfrm>
            <a:off x="6080760" y="2862072"/>
            <a:ext cx="26974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080760" y="2862072"/>
            <a:ext cx="2697480" cy="1828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━ GHG, Mt CO₂e (left)  ┈ range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╍ Revenue, US$ B (right)  ▒ projection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chemeClr val="tx1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Iran: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war and blockade in 2026; revenue forecast halves vs 2024. Emissions range is an assumption.</a:t>
            </a:r>
            <a:endParaRPr lang="en-US" sz="900" dirty="0"/>
          </a:p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Canada: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trend plus +4 to +19 Mt from rolled-back measures by 2030 (PBO).</a:t>
            </a:r>
            <a:endParaRPr lang="en-US" sz="900" dirty="0"/>
          </a:p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Saudi Arabia: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revenue tracks oil prices.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Germany keeps falling; Turkey keeps rising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60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South Korea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591 Mt · $980B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16152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rojection-zone"/>
          <p:cNvSpPr/>
          <p:nvPr/>
        </p:nvSpPr>
        <p:spPr>
          <a:xfrm>
            <a:off x="2413624" y="1294790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246120" y="960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Turkey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673 Mt · $619B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3200400" y="1216152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projection-zone"/>
          <p:cNvSpPr/>
          <p:nvPr/>
        </p:nvSpPr>
        <p:spPr>
          <a:xfrm>
            <a:off x="5248264" y="1294790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080760" y="960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Germany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517 Mt · $2.7T</a:t>
            </a:r>
            <a:endParaRPr lang="en-US" sz="12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6035040" y="1216152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projection-zone"/>
          <p:cNvSpPr/>
          <p:nvPr/>
        </p:nvSpPr>
        <p:spPr>
          <a:xfrm>
            <a:off x="8082904" y="1294790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11480" y="28620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Mexico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538 Mt · $596B</a:t>
            </a:r>
            <a:endParaRPr lang="en-US" sz="1200" dirty="0"/>
          </a:p>
        </p:txBody>
      </p:sp>
      <p:graphicFrame>
        <p:nvGraphicFramePr>
          <p:cNvPr id="13" name="Chart 3" descr=""/>
          <p:cNvGraphicFramePr/>
          <p:nvPr/>
        </p:nvGraphicFramePr>
        <p:xfrm>
          <a:off x="365760" y="3118104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projection-zone"/>
          <p:cNvSpPr/>
          <p:nvPr/>
        </p:nvSpPr>
        <p:spPr>
          <a:xfrm>
            <a:off x="2413624" y="3196742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3246120" y="28620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South Africa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2028: 490 Mt · $155B</a:t>
            </a:r>
            <a:endParaRPr lang="en-US" sz="1200" dirty="0"/>
          </a:p>
        </p:txBody>
      </p:sp>
      <p:graphicFrame>
        <p:nvGraphicFramePr>
          <p:cNvPr id="16" name="Chart 4" descr=""/>
          <p:cNvGraphicFramePr/>
          <p:nvPr/>
        </p:nvGraphicFramePr>
        <p:xfrm>
          <a:off x="3200400" y="3118104"/>
          <a:ext cx="2788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projection-zone"/>
          <p:cNvSpPr/>
          <p:nvPr/>
        </p:nvSpPr>
        <p:spPr>
          <a:xfrm>
            <a:off x="5248264" y="3196742"/>
            <a:ext cx="322718" cy="1226759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18" name="group-notes"/>
          <p:cNvSpPr/>
          <p:nvPr/>
        </p:nvSpPr>
        <p:spPr>
          <a:xfrm>
            <a:off x="6080760" y="2862072"/>
            <a:ext cx="26974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080760" y="2862072"/>
            <a:ext cx="2697480" cy="1828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━ GHG, Mt CO₂e (left)  ┈ range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╍ Revenue, US$ B (right)  ▒ projection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chemeClr val="tx1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Germany: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−3.7% a year trend continues; ETS2 delay matters little before 2028.</a:t>
            </a:r>
            <a:endParaRPr lang="en-US" sz="900" dirty="0"/>
          </a:p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Turkey: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+2.7% a year, among the fastest of the top 15.</a:t>
            </a:r>
            <a:endParaRPr lang="en-US" sz="900" dirty="0"/>
          </a:p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South Korea: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revenue series starts 2012.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15 emitters: 2001, 2024 and projected 2028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85800"/>
                <a:gridCol w="685800"/>
                <a:gridCol w="1325880"/>
                <a:gridCol w="731520"/>
                <a:gridCol w="731520"/>
                <a:gridCol w="1234440"/>
                <a:gridCol w="1143000"/>
                <a:gridCol w="594360"/>
              </a:tblGrid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GHG 2001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GHG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GHG 2028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(range)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2001–24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2024–28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2028 (US$ 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CO₂e / person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 →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13,630 (13,052–14,311)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4,869 → 5,980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 → 9.7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5,497 (5,322–5,660)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8,754 → 10,716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 → 16.2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3,827 (3,668–4,014)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805 → 1,064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→ 2.5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2,308 (2,245–2,373)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766 → 925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 → 15.4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Indonesia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1,369 (1,282–1,459)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 → 245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→ 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879 (848–915)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1,494 → 1,670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 → 8.0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 (778–1,134)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→ 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 → 10.4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Arabia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826 (776–877)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 → 345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 → 23.7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673 (641–705)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860 → 1,175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 → 3.2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 (581–656)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959 → 1,147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 → 15.9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Korea†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591 (558–625)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602 → 980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 → 12.0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673 (621–727)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 → 619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→ 7.0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 (479–558)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2,195 → 2,732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 → 7.2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Mexico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 (523–553)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457 → 596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 → 4.2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Africa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 (453–529)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→ 155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 → 7.9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988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5"/>
                </a:solidFill>
              </a:rPr>
              <a:t>Revenue in nominal US$ (IMF forecasts from 2025). † South Korea revenue from 2012. Peak = highest year within 2001–2024.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GHG per dollar of government revenue keeps falling, but more slowly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rojection-zone"/>
          <p:cNvSpPr/>
          <p:nvPr/>
        </p:nvSpPr>
        <p:spPr>
          <a:xfrm>
            <a:off x="3835908" y="1400861"/>
            <a:ext cx="567842" cy="2370125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835908" y="1400861"/>
            <a:ext cx="5678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chemeClr val="accent5"/>
                </a:solidFill>
              </a:rPr>
              <a:t>Projection</a:t>
            </a:r>
            <a:endParaRPr lang="en-US" sz="800" dirty="0"/>
          </a:p>
        </p:txBody>
      </p:sp>
      <p:sp>
        <p:nvSpPr>
          <p:cNvPr id="6" name="pattern-1"/>
          <p:cNvSpPr/>
          <p:nvPr/>
        </p:nvSpPr>
        <p:spPr>
          <a:xfrm>
            <a:off x="4846320" y="1051560"/>
            <a:ext cx="38404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92040" y="1051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1051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Absolute decoupling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GHG fell while revenue grew</a:t>
            </a:r>
            <a:endParaRPr lang="en-US" sz="1200" dirty="0"/>
          </a:p>
        </p:txBody>
      </p:sp>
      <p:sp>
        <p:nvSpPr>
          <p:cNvPr id="9" name="pattern-2"/>
          <p:cNvSpPr/>
          <p:nvPr/>
        </p:nvSpPr>
        <p:spPr>
          <a:xfrm>
            <a:off x="4846320" y="1673352"/>
            <a:ext cx="38404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6733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16733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Relative decoupling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GHG grew, but slower than revenue</a:t>
            </a:r>
            <a:endParaRPr lang="en-US" sz="1200" dirty="0"/>
          </a:p>
        </p:txBody>
      </p:sp>
      <p:sp>
        <p:nvSpPr>
          <p:cNvPr id="12" name="pattern-3"/>
          <p:cNvSpPr/>
          <p:nvPr/>
        </p:nvSpPr>
        <p:spPr>
          <a:xfrm>
            <a:off x="4846320" y="2295144"/>
            <a:ext cx="38404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2040" y="22951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229514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Emissions outpacing revenue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GHG grew faster than revenue</a:t>
            </a:r>
            <a:endParaRPr lang="en-US" sz="1200" dirty="0"/>
          </a:p>
        </p:txBody>
      </p:sp>
      <p:sp>
        <p:nvSpPr>
          <p:cNvPr id="15" name="pattern-4"/>
          <p:cNvSpPr/>
          <p:nvPr/>
        </p:nvSpPr>
        <p:spPr>
          <a:xfrm>
            <a:off x="4846320" y="2916936"/>
            <a:ext cx="38404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2040" y="29169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0" y="291693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Revenue fell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US$ revenue lower in 2024 than 2001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35844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145 countries (≥1M people), 2001→2024.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Largest absolute decouplers: United States, Japan, Canada, Germany, United Kingdom, Italy.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343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World: 1,223 t per $1M in 2024 → 978 projected in 2028. Nominal US$, so inflation alone pushes this ratio down; absolute decoupling does not depend on it.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temperature rose about 0.24 °C per decade since 2001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rojection-zone"/>
          <p:cNvSpPr/>
          <p:nvPr/>
        </p:nvSpPr>
        <p:spPr>
          <a:xfrm>
            <a:off x="5276774" y="1371600"/>
            <a:ext cx="619277" cy="2560320"/>
          </a:xfrm>
          <a:prstGeom prst="rect">
            <a:avLst/>
          </a:prstGeom>
          <a:solidFill>
            <a:srgbClr val="6B7F86">
              <a:alpha val="12000"/>
            </a:srgbClr>
          </a:solidFill>
          <a:ln w="12700">
            <a:solidFill>
              <a:srgbClr val="6B7F86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276774" y="1371600"/>
            <a:ext cx="61927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chemeClr val="accent5"/>
                </a:solidFill>
              </a:rPr>
              <a:t>Projection</a:t>
            </a:r>
            <a:endParaRPr lang="en-US" sz="800" dirty="0"/>
          </a:p>
        </p:txBody>
      </p:sp>
      <p:sp>
        <p:nvSpPr>
          <p:cNvPr id="6" name="callout"/>
          <p:cNvSpPr/>
          <p:nvPr/>
        </p:nvSpPr>
        <p:spPr>
          <a:xfrm>
            <a:off x="6355080" y="1143000"/>
            <a:ext cx="2331720" cy="338328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5080" y="1188720"/>
            <a:ext cx="2331720" cy="3291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1.53 °C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2024, the warmest year on record; 2025 was 1.41 °C.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WMO outlook (May 2026)</a:t>
            </a:r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 2026–2030 likely 1.3–1.9 °C. 86% chance one beats 2024; 75% chance the five-year average exceeds 1.5 °C.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Year-to-year swings (El Niño, La Niña) are large relative to the trend.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Recorded weather disasters rose modestly; storms rose most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7607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"/>
          <p:cNvSpPr/>
          <p:nvPr/>
        </p:nvSpPr>
        <p:spPr>
          <a:xfrm>
            <a:off x="6355080" y="1143000"/>
            <a:ext cx="2331720" cy="338328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188720"/>
            <a:ext cx="2331720" cy="3291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355 → 394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per year, 2001–05 vs 2021–25 average (+11%)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Storms 111 → 134; floods 159 → 168; droughts 29 → 23.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EM-DAT counts only events above impact thresholds; reporting improved over time, and 2025 may still be incomplete.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Damage costs more than doubled in dollars, but stayed near 0.2% of world GDP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3434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846320" y="1005840"/>
          <a:ext cx="3886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846320" y="3383280"/>
            <a:ext cx="3886200" cy="12801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damage grew about 6.5% a year (trend). 2026–28 trend: ~$236–267B a year, with any single year anywhere from about $125B to $413B.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 was below average (Munich Re); Swiss Re calls that luck, not a trend, and puts insured-loss trend growth at 5–7% a year in real terms.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5"/>
                </a:solidFill>
              </a:rPr>
              <a:t>Excludes earthquakes and volcanoes. EM-DAT values are unadjusted for inflation, missing for many events (especially in low-income countries), and 2025 may be incomplete.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continent: where recorded damage falls, 2001–05 vs 2020–24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41605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17720" y="960120"/>
          <a:ext cx="41605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Five-year averages, because single years swing widely (e.g., Hurricane Katrina in 2005). North America's large share partly reflects better damage records and high insured asset values; Africa's damage is heavily under-recorded.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Emissions and extreme weather: what these data can and can't show</a:t>
            </a:r>
            <a:endParaRPr lang="en-US" sz="2600" dirty="0"/>
          </a:p>
        </p:txBody>
      </p:sp>
      <p:sp>
        <p:nvSpPr>
          <p:cNvPr id="3" name="evidence-supports"/>
          <p:cNvSpPr/>
          <p:nvPr/>
        </p:nvSpPr>
        <p:spPr>
          <a:xfrm>
            <a:off x="457200" y="105156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vidence-limits"/>
          <p:cNvSpPr/>
          <p:nvPr/>
        </p:nvSpPr>
        <p:spPr>
          <a:xfrm>
            <a:off x="4663440" y="105156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BEDE3"/>
          </a:solidFill>
          <a:ln w="12700">
            <a:solidFill>
              <a:srgbClr val="FBED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3840480" cy="3246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What the evidence supports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Warming tracks cumulative global emissions, not any single country's annual total (IPCC AR6).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Human influence has made heatwaves and heavy rainfall more frequent and intense in most regions (IPCC AR6, high confidence).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Temperatures in 2023–2025 were the highest on record, and WMO expects more records by 2030.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43000"/>
            <a:ext cx="3840480" cy="3246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What these data can't show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That a country's own emissions drive its own disaster costs: impacts depend on global emissions, geography and exposure.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How much of the rise in dollar damage is climate: most of it tracks growth in assets and prices (stable near 0.2% of GDP).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Clean trends in event counts: recording practices changed, and confidence varies by hazard (lower for droughts and storms than for heat).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factor lines up with emissions best?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5778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"/>
          <p:cNvSpPr/>
          <p:nvPr/>
        </p:nvSpPr>
        <p:spPr>
          <a:xfrm>
            <a:off x="6217920" y="1143000"/>
            <a:ext cx="2468880" cy="33832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0" y="1188720"/>
            <a:ext cx="2468880" cy="3291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follow scale</a:t>
            </a:r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(0.89), population (0.82) and area (0.66) all track total emissions; bigger countries emit more.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 follows wealth</a:t>
            </a:r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person (0.81) tracks per-capita emissions; density shows no link. These are associations, not causes.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161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8872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are concentrated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countries emit 69%; China, the US and India alone 52%.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161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18872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drives totals; wealth drives per-person levels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population and area track total GHG; revenue per person tracks GHG per person.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7744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economies cut emissions as they grew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countries emit less than in 2001 with higher revenue, though imports explain part of the fall.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40487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37744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outlook: roughly flat world total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44.0 Gt central (41.4–46.8): Asian growth offsets declines elsewhere; US and Canadian rollbacks slow their declines.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5661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Warming continues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+0.24 °C per decade; WMO expects new records by 2030.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59359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5661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costs rise with the economy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damage more than doubled, while staying near 0.2% of world GDP; records are incomplete in poorer countries.</a:t>
            </a:r>
            <a:endParaRPr lang="en-US" sz="14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548640" y="28803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of this analysis and other explanations</a:t>
            </a:r>
            <a:endParaRPr lang="en-US" sz="2600" dirty="0"/>
          </a:p>
        </p:txBody>
      </p:sp>
      <p:sp>
        <p:nvSpPr>
          <p:cNvPr id="3" name="limit-1"/>
          <p:cNvSpPr/>
          <p:nvPr/>
        </p:nvSpPr>
        <p:spPr>
          <a:xfrm>
            <a:off x="457200" y="100584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42416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Correlation is not causation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Revenue and emissions both grow with the size of an economy; neither need cause the other.</a:t>
            </a:r>
            <a:endParaRPr lang="en-US" sz="1200" dirty="0"/>
          </a:p>
        </p:txBody>
      </p:sp>
      <p:sp>
        <p:nvSpPr>
          <p:cNvPr id="5" name="limit-2"/>
          <p:cNvSpPr/>
          <p:nvPr/>
        </p:nvSpPr>
        <p:spPr>
          <a:xfrm>
            <a:off x="4663440" y="100584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042416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Where emissions are counted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Territorial totals miss emissions embedded in imports; rich-country cuts look smaller on a consumption basis.</a:t>
            </a:r>
            <a:endParaRPr lang="en-US" sz="1200" dirty="0"/>
          </a:p>
        </p:txBody>
      </p:sp>
      <p:sp>
        <p:nvSpPr>
          <p:cNvPr id="7" name="limit-3"/>
          <p:cNvSpPr/>
          <p:nvPr/>
        </p:nvSpPr>
        <p:spPr>
          <a:xfrm>
            <a:off x="457200" y="214884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185416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Nominal US dollars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Revenue and damage include inflation and exchange-rate moves (e.g., Europe's 2025 revenue jump reflects a stronger euro).</a:t>
            </a:r>
            <a:endParaRPr lang="en-US" sz="1200" dirty="0"/>
          </a:p>
        </p:txBody>
      </p:sp>
      <p:sp>
        <p:nvSpPr>
          <p:cNvPr id="9" name="limit-4"/>
          <p:cNvSpPr/>
          <p:nvPr/>
        </p:nvSpPr>
        <p:spPr>
          <a:xfrm>
            <a:off x="4663440" y="214884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185416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Projections are scenarios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Built from trends and limited policy evidence. A recession, a longer oil shock or faster AI-driven power demand could move them a lot.</a:t>
            </a:r>
            <a:endParaRPr lang="en-US" sz="1200" dirty="0"/>
          </a:p>
        </p:txBody>
      </p:sp>
      <p:sp>
        <p:nvSpPr>
          <p:cNvPr id="11" name="limit-5"/>
          <p:cNvSpPr/>
          <p:nvPr/>
        </p:nvSpPr>
        <p:spPr>
          <a:xfrm>
            <a:off x="457200" y="329184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328416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Disaster records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EM-DAT depends on reporting; many damage values are missing, especially in Africa and Asia.</a:t>
            </a:r>
            <a:endParaRPr lang="en-US" sz="1200" dirty="0"/>
          </a:p>
        </p:txBody>
      </p:sp>
      <p:sp>
        <p:nvSpPr>
          <p:cNvPr id="13" name="limit-6"/>
          <p:cNvSpPr/>
          <p:nvPr/>
        </p:nvSpPr>
        <p:spPr>
          <a:xfrm>
            <a:off x="4663440" y="329184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328416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Scope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GHG excludes land use, international aviation and shipping, and fluorinated gases.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600" dirty="0"/>
          </a:p>
        </p:txBody>
      </p:sp>
      <p:sp>
        <p:nvSpPr>
          <p:cNvPr id="3" name="notes"/>
          <p:cNvSpPr/>
          <p:nvPr/>
        </p:nvSpPr>
        <p:spPr>
          <a:xfrm>
            <a:off x="457200" y="1005840"/>
            <a:ext cx="822960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7955280" cy="2971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Emissions and population: Our World in Data CO₂ and GHG dataset (Jones et al.; Global Carbon Project), 2001–2024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Government revenue: IMF Fiscal Monitor revenue (% of GDP) × IMF WEO GDP in US$, Oct 2026 DataMapper, incl. 2025–28 forecasts; 2024 snapshot slides use IMF WEO via Wikipedia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Land area: World Bank via OWID. Temperature: Met Office HadCRUT5 via OWID; WMO Global Annual to Decadal Climate Update (May 2026)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2025–26 emissions evidence: Global Carbon Budget 2025; Rhodium Group (Jan 2026; Taking Stock, Sep 2025); CREA/Carbon Brief (China, India; Feb–Sep 2026); Carbon Brief on 2026 Hormuz crisis (Sep 2026)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Policy: Parliamentary Budget Officer of Canada (2030 emissions gap); Canada–Alberta MOU coverage (Dec 2025); ICAP on EU 2040 target and ETS2 (Mar 2026); EPA endangerment-finding repeal (Jones Day, Feb 2026)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Disasters: EM-DAT, CRED/UCLouvain via OWID (reported to Apr 2026); Munich Re NatCat (2025, H1 2026); Swiss Re (Sep 2026)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Consumption-based CO₂: Global Carbon Project via OWID (to 2022)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ber and Pine">
  <a:themeElements>
    <a:clrScheme name="Ember and Pine">
      <a:dk1>
        <a:srgbClr val="1B2A2F"/>
      </a:dk1>
      <a:lt1>
        <a:srgbClr val="FFFFFF"/>
      </a:lt1>
      <a:dk2>
        <a:srgbClr val="1F4A40"/>
      </a:dk2>
      <a:lt2>
        <a:srgbClr val="EEF3F1"/>
      </a:lt2>
      <a:accent1>
        <a:srgbClr val="D9661F"/>
      </a:accent1>
      <a:accent2>
        <a:srgbClr val="2F7D6B"/>
      </a:accent2>
      <a:accent3>
        <a:srgbClr val="8FB3A0"/>
      </a:accent3>
      <a:accent4>
        <a:srgbClr val="E9B44C"/>
      </a:accent4>
      <a:accent5>
        <a:srgbClr val="6B7F86"/>
      </a:accent5>
      <a:accent6>
        <a:srgbClr val="B23A2E"/>
      </a:accent6>
      <a:hlink>
        <a:srgbClr val="2F7D6B"/>
      </a:hlink>
      <a:folHlink>
        <a:srgbClr val="6B7F86"/>
      </a:folHlink>
    </a:clrScheme>
    <a:fontScheme name="Ember and P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GHG Emissions by Country and Continent</dc:title>
  <dc:subject>PptxGenJS Presentation</dc:subject>
  <dc:creator>Mehrad Tavanamehr</dc:creator>
  <cp:lastModifiedBy>Mehrad Tavanamehr</cp:lastModifiedBy>
  <cp:revision>1</cp:revision>
  <dcterms:created xsi:type="dcterms:W3CDTF">2026-10-19T22:05:18Z</dcterms:created>
  <dcterms:modified xsi:type="dcterms:W3CDTF">2026-10-19T22:05:18Z</dcterms:modified>
</cp:coreProperties>
</file>